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14"/>
  </p:notesMasterIdLst>
  <p:sldIdLst>
    <p:sldId id="297" r:id="rId2"/>
    <p:sldId id="298" r:id="rId3"/>
    <p:sldId id="309" r:id="rId4"/>
    <p:sldId id="300" r:id="rId5"/>
    <p:sldId id="301" r:id="rId6"/>
    <p:sldId id="302" r:id="rId7"/>
    <p:sldId id="303" r:id="rId8"/>
    <p:sldId id="304" r:id="rId9"/>
    <p:sldId id="305" r:id="rId10"/>
    <p:sldId id="306" r:id="rId11"/>
    <p:sldId id="307" r:id="rId12"/>
    <p:sldId id="30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6AD49EB-BD3F-D75A-C8DC-DAA9B2397478}">
          <p14:sldIdLst>
            <p14:sldId id="297"/>
            <p14:sldId id="298"/>
            <p14:sldId id="309"/>
            <p14:sldId id="300"/>
            <p14:sldId id="301"/>
            <p14:sldId id="302"/>
            <p14:sldId id="303"/>
            <p14:sldId id="304"/>
            <p14:sldId id="305"/>
            <p14:sldId id="306"/>
            <p14:sldId id="307"/>
            <p14:sldId id="308"/>
          </p14:sldIdLst>
        </p14:section>
        <p14:section name="The product" id="{38715C4F-9769-BCA3-1F2E-11371D538189}">
          <p14:sldIdLst/>
        </p14:section>
        <p14:section name="Ways to run it" id="{7EA4F399-3443-FF87-D8C3-F16A4A05AED4}">
          <p14:sldIdLst/>
        </p14:section>
        <p14:section name="Next steps" id="{2E7566CD-3D9B-9836-2D4F-B2C4874C1F2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6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675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 Pharmacy is the pharmacy ERP from Miles Global Softwares. It runs on Miles Cloud, so it shares one account, one organization and one set of books with the other Miles products.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problems we hear most from pharmacy owners. Every feature that follows answers one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capabilities, all in the product today. Each of the next slides shows one of them in the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screen is per branch. Each card links to the list behind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sale belongs to the cashier’s open shift, so the till can be reconciled at closing.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Expiring soon means within 90 days.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of duties: the person who asks for a disposal cannot approve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read from the same records as Finance, so the numbers agree with the books.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types a sale or a delivery twice: the pharmacy and Finance share the same records.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sales made offline wait in an outbox and are sent exactly once when the connection returns.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 Cloud is the shared foundation: account, organization, application access, subscriptions and permissions.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trial starts a new workspace with Miles Pharmacy and Finance &amp; Accounting. Custom set-up, data loading and training are available on request.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ark title">
    <p:bg>
      <p:bgPr>
        <a:solidFill>
          <a:schemeClr val="tx2"/>
        </a:solidFill>
        <a:effectLst/>
      </p:bgPr>
    </p:bg>
    <p:spTree>
      <p:nvGrpSpPr>
        <p:cNvPr id="1" name=""/>
        <p:cNvGrpSpPr/>
        <p:nvPr/>
      </p:nvGrpSpPr>
      <p:grpSpPr>
        <a:xfrm>
          <a:off x="0" y="0"/>
          <a:ext cx="0" cy="0"/>
          <a:chOff x="0" y="0"/>
          <a:chExt cx="0" cy="0"/>
        </a:xfrm>
      </p:grpSpPr>
      <p:sp>
        <p:nvSpPr>
          <p:cNvPr id="901" name="Base band"/>
          <p:cNvSpPr/>
          <p:nvPr userDrawn="1"/>
        </p:nvSpPr>
        <p:spPr>
          <a:xfrm>
            <a:off x="0" y="6781800"/>
            <a:ext cx="12192000" cy="76200"/>
          </a:xfrm>
          <a:prstGeom prst="rect">
            <a:avLst/>
          </a:prstGeom>
          <a:solidFill>
            <a:schemeClr val="accent2"/>
          </a:solidFill>
          <a:ln>
            <a:noFill/>
          </a:ln>
        </p:spPr>
        <p:txBody>
          <a:bodyPr/>
          <a:lstStyle/>
          <a:p>
            <a:endParaRPr lang="en-US"/>
          </a:p>
        </p:txBody>
      </p:sp>
      <p:pic>
        <p:nvPicPr>
          <p:cNvPr id="2" name="Image 0" descr="C:\Users\konak\AppData\Local\Temp\claude\D--new-projects-milesoftwares\904e7a38-663e-4542-a587-286d97710f9c\scratchpad\deck\img\logo-with-text-light.png"/>
          <p:cNvPicPr>
            <a:picLocks noChangeAspect="1"/>
          </p:cNvPicPr>
          <p:nvPr/>
        </p:nvPicPr>
        <p:blipFill>
          <a:blip r:embed="rId2"/>
          <a:stretch>
            <a:fillRect/>
          </a:stretch>
        </p:blipFill>
        <p:spPr>
          <a:xfrm>
            <a:off x="548640" y="457200"/>
            <a:ext cx="2194560" cy="605333"/>
          </a:xfrm>
          <a:prstGeom prst="rect">
            <a:avLst/>
          </a:prstGeom>
        </p:spPr>
      </p:pic>
      <p:sp>
        <p:nvSpPr>
          <p:cNvPr id="3" name="Text 0"/>
          <p:cNvSpPr>
            <a:spLocks noGrp="1"/>
          </p:cNvSpPr>
          <p:nvPr>
            <p:ph type="title" idx="101" hasCustomPrompt="1"/>
          </p:nvPr>
        </p:nvSpPr>
        <p:spPr>
          <a:xfrm>
            <a:off x="548640" y="2011680"/>
            <a:ext cx="566928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0"/>
          <p:cNvSpPr>
            <a:spLocks noGrp="1"/>
          </p:cNvSpPr>
          <p:nvPr>
            <p:ph type="body" idx="102" hasCustomPrompt="1"/>
          </p:nvPr>
        </p:nvSpPr>
        <p:spPr>
          <a:xfrm>
            <a:off x="548640" y="3337560"/>
            <a:ext cx="5394960" cy="1188720"/>
          </a:xfrm>
          <a:prstGeom prst="rect">
            <a:avLst/>
          </a:prstGeom>
          <a:noFill/>
          <a:ln/>
        </p:spPr>
        <p:txBody>
          <a:bodyPr wrap="square" rtlCol="0"/>
          <a:lstStyle>
            <a:lvl1pPr marL="0" indent="0">
              <a:buNone/>
              <a:defRPr lang="en-US" sz="2200" dirty="0">
                <a:solidFill>
                  <a:schemeClr val="accent3"/>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901" name="Title rule"/>
          <p:cNvSpPr/>
          <p:nvPr userDrawn="1"/>
        </p:nvSpPr>
        <p:spPr>
          <a:xfrm>
            <a:off x="548640" y="1203960"/>
            <a:ext cx="548640" cy="45720"/>
          </a:xfrm>
          <a:prstGeom prst="rect">
            <a:avLst/>
          </a:prstGeom>
          <a:solidFill>
            <a:schemeClr val="accent1"/>
          </a:solidFill>
          <a:ln>
            <a:noFill/>
          </a:ln>
        </p:spPr>
        <p:txBody>
          <a:bodyPr/>
          <a:lstStyle/>
          <a:p>
            <a:endParaRPr lang="en-US"/>
          </a:p>
        </p:txBody>
      </p:sp>
      <p:sp>
        <p:nvSpPr>
          <p:cNvPr id="2" name="Text 0"/>
          <p:cNvSpPr>
            <a:spLocks noGrp="1"/>
          </p:cNvSpPr>
          <p:nvPr>
            <p:ph type="title" idx="100" hasCustomPrompt="1"/>
          </p:nvPr>
        </p:nvSpPr>
        <p:spPr>
          <a:xfrm>
            <a:off x="548640" y="365760"/>
            <a:ext cx="11094415" cy="7772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1607A"/>
                </a:solidFill>
              </a:rPr>
              <a:t>Miles Pharmacy  ·  Miles Global Softwares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ark closing">
    <p:bg>
      <p:bgPr>
        <a:solidFill>
          <a:schemeClr val="tx2"/>
        </a:solidFill>
        <a:effectLst/>
      </p:bgPr>
    </p:bg>
    <p:spTree>
      <p:nvGrpSpPr>
        <p:cNvPr id="1" name=""/>
        <p:cNvGrpSpPr/>
        <p:nvPr/>
      </p:nvGrpSpPr>
      <p:grpSpPr>
        <a:xfrm>
          <a:off x="0" y="0"/>
          <a:ext cx="0" cy="0"/>
          <a:chOff x="0" y="0"/>
          <a:chExt cx="0" cy="0"/>
        </a:xfrm>
      </p:grpSpPr>
      <p:sp>
        <p:nvSpPr>
          <p:cNvPr id="901" name="Base band"/>
          <p:cNvSpPr/>
          <p:nvPr userDrawn="1"/>
        </p:nvSpPr>
        <p:spPr>
          <a:xfrm>
            <a:off x="0" y="6781800"/>
            <a:ext cx="12192000" cy="76200"/>
          </a:xfrm>
          <a:prstGeom prst="rect">
            <a:avLst/>
          </a:prstGeom>
          <a:solidFill>
            <a:schemeClr val="accent2"/>
          </a:solidFill>
          <a:ln>
            <a:noFill/>
          </a:ln>
        </p:spPr>
        <p:txBody>
          <a:bodyPr/>
          <a:lstStyle/>
          <a:p>
            <a:endParaRPr lang="en-US"/>
          </a:p>
        </p:txBody>
      </p:sp>
      <p:pic>
        <p:nvPicPr>
          <p:cNvPr id="2" name="Image 0" descr="C:\Users\konak\AppData\Local\Temp\claude\D--new-projects-milesoftwares\904e7a38-663e-4542-a587-286d97710f9c\scratchpad\deck\img\logo-with-text-light.png"/>
          <p:cNvPicPr>
            <a:picLocks noChangeAspect="1"/>
          </p:cNvPicPr>
          <p:nvPr/>
        </p:nvPicPr>
        <p:blipFill>
          <a:blip r:embed="rId2"/>
          <a:stretch>
            <a:fillRect/>
          </a:stretch>
        </p:blipFill>
        <p:spPr>
          <a:xfrm>
            <a:off x="548640" y="457200"/>
            <a:ext cx="2194560" cy="605333"/>
          </a:xfrm>
          <a:prstGeom prst="rect">
            <a:avLst/>
          </a:prstGeom>
        </p:spPr>
      </p:pic>
      <p:sp>
        <p:nvSpPr>
          <p:cNvPr id="3" name="Text 0"/>
          <p:cNvSpPr>
            <a:spLocks noGrp="1"/>
          </p:cNvSpPr>
          <p:nvPr>
            <p:ph type="title" idx="101" hasCustomPrompt="1"/>
          </p:nvPr>
        </p:nvSpPr>
        <p:spPr>
          <a:xfrm>
            <a:off x="548640" y="1554480"/>
            <a:ext cx="658368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27.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6.jp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011680"/>
            <a:ext cx="5461000" cy="1188720"/>
          </a:xfrm>
          <a:prstGeom prst="rect">
            <a:avLst/>
          </a:prstGeom>
          <a:noFill/>
          <a:ln/>
        </p:spPr>
        <p:txBody>
          <a:bodyPr wrap="square" lIns="0" tIns="0" rIns="0" bIns="0" rtlCol="0" anchor="b"/>
          <a:lstStyle/>
          <a:p>
            <a:pPr marL="0" indent="0" algn="l">
              <a:buNone/>
            </a:pPr>
            <a:r>
              <a:rPr lang="en-US" sz="5400" b="1" dirty="0">
                <a:solidFill>
                  <a:schemeClr val="bg1"/>
                </a:solidFill>
              </a:rPr>
              <a:t>Miles Pharmacy</a:t>
            </a:r>
            <a:endParaRPr lang="en-US" sz="5400" dirty="0"/>
          </a:p>
        </p:txBody>
      </p:sp>
      <p:sp>
        <p:nvSpPr>
          <p:cNvPr id="3" name="Text 0"/>
          <p:cNvSpPr>
            <a:spLocks noGrp="1"/>
          </p:cNvSpPr>
          <p:nvPr>
            <p:ph type="body" idx="102" hasCustomPrompt="1"/>
          </p:nvPr>
        </p:nvSpPr>
        <p:spPr>
          <a:xfrm>
            <a:off x="548640" y="3337560"/>
            <a:ext cx="5394960" cy="1188720"/>
          </a:xfrm>
          <a:prstGeom prst="rect">
            <a:avLst/>
          </a:prstGeom>
          <a:noFill/>
          <a:ln/>
        </p:spPr>
        <p:txBody>
          <a:bodyPr wrap="square" lIns="0" tIns="0" rIns="0" bIns="0" rtlCol="0" anchor="t"/>
          <a:lstStyle/>
          <a:p>
            <a:pPr marL="0" indent="0">
              <a:buNone/>
            </a:pPr>
            <a:r>
              <a:rPr lang="en-US" sz="2200" dirty="0">
                <a:solidFill>
                  <a:schemeClr val="accent3"/>
                </a:solidFill>
              </a:rPr>
              <a:t>Every medicine accounted for, from delivery to dispensing.</a:t>
            </a:r>
            <a:endParaRPr lang="en-US" sz="2200" dirty="0"/>
          </a:p>
        </p:txBody>
      </p:sp>
      <p:sp>
        <p:nvSpPr>
          <p:cNvPr id="4" name="Text 2"/>
          <p:cNvSpPr txBox="1"/>
          <p:nvPr/>
        </p:nvSpPr>
        <p:spPr>
          <a:xfrm>
            <a:off x="548640" y="4846320"/>
            <a:ext cx="5394960" cy="365760"/>
          </a:xfrm>
          <a:prstGeom prst="rect">
            <a:avLst/>
          </a:prstGeom>
          <a:noFill/>
          <a:ln/>
        </p:spPr>
        <p:txBody>
          <a:bodyPr wrap="square" lIns="0" tIns="0" rIns="0" bIns="0" rtlCol="0" anchor="ctr"/>
          <a:lstStyle/>
          <a:p>
            <a:pPr marL="0" indent="0">
              <a:buNone/>
            </a:pPr>
            <a:r>
              <a:rPr lang="en-US" sz="1400" dirty="0">
                <a:solidFill>
                  <a:schemeClr val="bg1"/>
                </a:solidFill>
              </a:rPr>
              <a:t>Pharmacy ERP on Miles Cloud  ·  Product profile</a:t>
            </a:r>
            <a:endParaRPr lang="en-US" sz="1400" dirty="0"/>
          </a:p>
        </p:txBody>
      </p:sp>
      <p:sp>
        <p:nvSpPr>
          <p:cNvPr id="5" name="Miles Pharmacy on milesoftwares.com frame"/>
          <p:cNvSpPr/>
          <p:nvPr/>
        </p:nvSpPr>
        <p:spPr>
          <a:xfrm>
            <a:off x="6121400" y="1651000"/>
            <a:ext cx="5588000" cy="2650795"/>
          </a:xfrm>
          <a:prstGeom prst="roundRect">
            <a:avLst>
              <a:gd name="adj" fmla="val 2849"/>
            </a:avLst>
          </a:prstGeom>
          <a:solidFill>
            <a:schemeClr val="bg1"/>
          </a:solidFill>
          <a:ln w="12700">
            <a:solidFill>
              <a:schemeClr val="accent5"/>
            </a:solidFill>
            <a:prstDash val="solid"/>
          </a:ln>
          <a:effectLst>
            <a:outerShdw blurRad="152400" dist="50800" dir="5400000" algn="bl" rotWithShape="0">
              <a:srgbClr val="0A2260">
                <a:alpha val="18000"/>
              </a:srgbClr>
            </a:outerShdw>
          </a:effectLst>
        </p:spPr>
        <p:txBody>
          <a:bodyPr/>
          <a:lstStyle/>
          <a:p>
            <a:endParaRPr lang="en-SS"/>
          </a:p>
        </p:txBody>
      </p:sp>
      <p:pic>
        <p:nvPicPr>
          <p:cNvPr id="6" name="Miles Pharmacy on milesoftwares.com" descr="Miles Pharmacy on milesoftwares.com"/>
          <p:cNvPicPr>
            <a:picLocks noChangeAspect="1"/>
          </p:cNvPicPr>
          <p:nvPr/>
        </p:nvPicPr>
        <p:blipFill>
          <a:blip r:embed="rId3"/>
          <a:stretch>
            <a:fillRect/>
          </a:stretch>
        </p:blipFill>
        <p:spPr>
          <a:xfrm>
            <a:off x="6178550" y="1708150"/>
            <a:ext cx="5473700" cy="2536495"/>
          </a:xfrm>
          <a:prstGeom prst="rect">
            <a:avLst/>
          </a:prstGeom>
        </p:spPr>
      </p:pic>
    </p:spTree>
    <p:extLst>
      <p:ext uri="{BB962C8B-B14F-4D97-AF65-F5344CB8AC3E}">
        <p14:creationId xmlns:p14="http://schemas.microsoft.com/office/powerpoint/2010/main" val="2767858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Where pharmacies lose money without noticing</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2</a:t>
            </a:fld>
            <a:endParaRPr lang="en-US"/>
          </a:p>
        </p:txBody>
      </p:sp>
      <p:sp>
        <p:nvSpPr>
          <p:cNvPr id="3" name="Expired stock on the shelf card"/>
          <p:cNvSpPr/>
          <p:nvPr/>
        </p:nvSpPr>
        <p:spPr>
          <a:xfrm>
            <a:off x="548640" y="1554480"/>
            <a:ext cx="3454298" cy="3108960"/>
          </a:xfrm>
          <a:prstGeom prst="roundRect">
            <a:avLst>
              <a:gd name="adj" fmla="val 3529"/>
            </a:avLst>
          </a:prstGeom>
          <a:solidFill>
            <a:schemeClr val="bg2"/>
          </a:solidFill>
          <a:ln/>
        </p:spPr>
        <p:txBody>
          <a:bodyPr/>
          <a:lstStyle/>
          <a:p>
            <a:endParaRPr lang="en-SS"/>
          </a:p>
        </p:txBody>
      </p:sp>
      <p:sp>
        <p:nvSpPr>
          <p:cNvPr id="4" name="LuCalendarX circle"/>
          <p:cNvSpPr/>
          <p:nvPr/>
        </p:nvSpPr>
        <p:spPr>
          <a:xfrm>
            <a:off x="914400" y="1874520"/>
            <a:ext cx="731520" cy="731520"/>
          </a:xfrm>
          <a:prstGeom prst="ellipse">
            <a:avLst/>
          </a:prstGeom>
          <a:solidFill>
            <a:srgbClr val="FFFFFF"/>
          </a:solidFill>
          <a:ln/>
        </p:spPr>
        <p:txBody>
          <a:bodyPr/>
          <a:lstStyle/>
          <a:p>
            <a:endParaRPr lang="en-SS"/>
          </a:p>
        </p:txBody>
      </p:sp>
      <p:pic>
        <p:nvPicPr>
          <p:cNvPr id="5" name="LuCalendarX" descr="preencoded.png"/>
          <p:cNvPicPr>
            <a:picLocks noChangeAspect="1"/>
          </p:cNvPicPr>
          <p:nvPr/>
        </p:nvPicPr>
        <p:blipFill>
          <a:blip r:embed="rId3">
            <a:duotone>
              <a:srgbClr val="0058F5"/>
              <a:srgbClr val="0058F5"/>
            </a:duotone>
          </a:blip>
          <a:stretch>
            <a:fillRect/>
          </a:stretch>
        </p:blipFill>
        <p:spPr>
          <a:xfrm>
            <a:off x="1097280" y="2057400"/>
            <a:ext cx="365760" cy="365760"/>
          </a:xfrm>
          <a:prstGeom prst="rect">
            <a:avLst/>
          </a:prstGeom>
        </p:spPr>
      </p:pic>
      <p:sp>
        <p:nvSpPr>
          <p:cNvPr id="6" name="Text 3"/>
          <p:cNvSpPr txBox="1"/>
          <p:nvPr/>
        </p:nvSpPr>
        <p:spPr>
          <a:xfrm>
            <a:off x="914400" y="2651760"/>
            <a:ext cx="2722778" cy="777240"/>
          </a:xfrm>
          <a:prstGeom prst="rect">
            <a:avLst/>
          </a:prstGeom>
          <a:noFill/>
          <a:ln/>
        </p:spPr>
        <p:txBody>
          <a:bodyPr wrap="square" lIns="0" tIns="0" rIns="0" bIns="0" rtlCol="0" anchor="b"/>
          <a:lstStyle/>
          <a:p>
            <a:pPr marL="0" indent="0">
              <a:buNone/>
            </a:pPr>
            <a:r>
              <a:rPr lang="en-US" sz="2000" b="1" dirty="0">
                <a:solidFill>
                  <a:schemeClr val="tx1"/>
                </a:solidFill>
              </a:rPr>
              <a:t>Expired stock on the shelf</a:t>
            </a:r>
            <a:endParaRPr lang="en-US" sz="2000" dirty="0"/>
          </a:p>
        </p:txBody>
      </p:sp>
      <p:sp>
        <p:nvSpPr>
          <p:cNvPr id="7" name="Text 4"/>
          <p:cNvSpPr txBox="1"/>
          <p:nvPr/>
        </p:nvSpPr>
        <p:spPr>
          <a:xfrm>
            <a:off x="914400" y="3474720"/>
            <a:ext cx="2722778" cy="1051560"/>
          </a:xfrm>
          <a:prstGeom prst="rect">
            <a:avLst/>
          </a:prstGeom>
          <a:noFill/>
          <a:ln/>
        </p:spPr>
        <p:txBody>
          <a:bodyPr wrap="square" lIns="0" tIns="0" rIns="0" bIns="0" rtlCol="0" anchor="t"/>
          <a:lstStyle/>
          <a:p>
            <a:pPr marL="0" indent="0">
              <a:buNone/>
            </a:pPr>
            <a:r>
              <a:rPr lang="en-US" sz="1500" dirty="0">
                <a:solidFill>
                  <a:schemeClr val="tx1"/>
                </a:solidFill>
              </a:rPr>
              <a:t>Batches nobody tracked, found only when a customer or an inspector does.</a:t>
            </a:r>
            <a:endParaRPr lang="en-US" sz="1500" dirty="0"/>
          </a:p>
        </p:txBody>
      </p:sp>
      <p:sp>
        <p:nvSpPr>
          <p:cNvPr id="8" name="Prescriptions on paper card"/>
          <p:cNvSpPr/>
          <p:nvPr/>
        </p:nvSpPr>
        <p:spPr>
          <a:xfrm>
            <a:off x="4368698" y="1554480"/>
            <a:ext cx="3454298" cy="3108960"/>
          </a:xfrm>
          <a:prstGeom prst="roundRect">
            <a:avLst>
              <a:gd name="adj" fmla="val 3529"/>
            </a:avLst>
          </a:prstGeom>
          <a:solidFill>
            <a:schemeClr val="bg2"/>
          </a:solidFill>
          <a:ln/>
        </p:spPr>
        <p:txBody>
          <a:bodyPr/>
          <a:lstStyle/>
          <a:p>
            <a:endParaRPr lang="en-SS"/>
          </a:p>
        </p:txBody>
      </p:sp>
      <p:sp>
        <p:nvSpPr>
          <p:cNvPr id="9" name="LuFileText circle"/>
          <p:cNvSpPr/>
          <p:nvPr/>
        </p:nvSpPr>
        <p:spPr>
          <a:xfrm>
            <a:off x="4734458" y="1874520"/>
            <a:ext cx="731520" cy="731520"/>
          </a:xfrm>
          <a:prstGeom prst="ellipse">
            <a:avLst/>
          </a:prstGeom>
          <a:solidFill>
            <a:srgbClr val="FFFFFF"/>
          </a:solidFill>
          <a:ln/>
        </p:spPr>
        <p:txBody>
          <a:bodyPr/>
          <a:lstStyle/>
          <a:p>
            <a:endParaRPr lang="en-SS"/>
          </a:p>
        </p:txBody>
      </p:sp>
      <p:pic>
        <p:nvPicPr>
          <p:cNvPr id="10" name="LuFileText" descr="preencoded.png"/>
          <p:cNvPicPr>
            <a:picLocks noChangeAspect="1"/>
          </p:cNvPicPr>
          <p:nvPr/>
        </p:nvPicPr>
        <p:blipFill>
          <a:blip r:embed="rId4">
            <a:duotone>
              <a:srgbClr val="0058F5"/>
              <a:srgbClr val="0058F5"/>
            </a:duotone>
          </a:blip>
          <a:stretch>
            <a:fillRect/>
          </a:stretch>
        </p:blipFill>
        <p:spPr>
          <a:xfrm>
            <a:off x="4917338" y="2057400"/>
            <a:ext cx="365760" cy="365760"/>
          </a:xfrm>
          <a:prstGeom prst="rect">
            <a:avLst/>
          </a:prstGeom>
        </p:spPr>
      </p:pic>
      <p:sp>
        <p:nvSpPr>
          <p:cNvPr id="11" name="Text 7"/>
          <p:cNvSpPr txBox="1"/>
          <p:nvPr/>
        </p:nvSpPr>
        <p:spPr>
          <a:xfrm>
            <a:off x="4734458" y="2651760"/>
            <a:ext cx="2722778" cy="777240"/>
          </a:xfrm>
          <a:prstGeom prst="rect">
            <a:avLst/>
          </a:prstGeom>
          <a:noFill/>
          <a:ln/>
        </p:spPr>
        <p:txBody>
          <a:bodyPr wrap="square" lIns="0" tIns="0" rIns="0" bIns="0" rtlCol="0" anchor="b"/>
          <a:lstStyle/>
          <a:p>
            <a:pPr marL="0" indent="0">
              <a:buNone/>
            </a:pPr>
            <a:r>
              <a:rPr lang="en-US" sz="2000" b="1" dirty="0">
                <a:solidFill>
                  <a:schemeClr val="tx1"/>
                </a:solidFill>
              </a:rPr>
              <a:t>Prescriptions on paper</a:t>
            </a:r>
            <a:endParaRPr lang="en-US" sz="2000" dirty="0"/>
          </a:p>
        </p:txBody>
      </p:sp>
      <p:sp>
        <p:nvSpPr>
          <p:cNvPr id="12" name="Text 8"/>
          <p:cNvSpPr txBox="1"/>
          <p:nvPr/>
        </p:nvSpPr>
        <p:spPr>
          <a:xfrm>
            <a:off x="4734458" y="3474720"/>
            <a:ext cx="2722778" cy="1051560"/>
          </a:xfrm>
          <a:prstGeom prst="rect">
            <a:avLst/>
          </a:prstGeom>
          <a:noFill/>
          <a:ln/>
        </p:spPr>
        <p:txBody>
          <a:bodyPr wrap="square" lIns="0" tIns="0" rIns="0" bIns="0" rtlCol="0" anchor="t"/>
          <a:lstStyle/>
          <a:p>
            <a:pPr marL="0" indent="0">
              <a:buNone/>
            </a:pPr>
            <a:r>
              <a:rPr lang="en-US" sz="1500" dirty="0">
                <a:solidFill>
                  <a:schemeClr val="tx1"/>
                </a:solidFill>
              </a:rPr>
              <a:t>No record of who checked them, what was dispensed or what is still owed.</a:t>
            </a:r>
            <a:endParaRPr lang="en-US" sz="1500" dirty="0"/>
          </a:p>
        </p:txBody>
      </p:sp>
      <p:sp>
        <p:nvSpPr>
          <p:cNvPr id="13" name="Cash that never matches card"/>
          <p:cNvSpPr/>
          <p:nvPr/>
        </p:nvSpPr>
        <p:spPr>
          <a:xfrm>
            <a:off x="8188757" y="1554480"/>
            <a:ext cx="3454298" cy="3108960"/>
          </a:xfrm>
          <a:prstGeom prst="roundRect">
            <a:avLst>
              <a:gd name="adj" fmla="val 3529"/>
            </a:avLst>
          </a:prstGeom>
          <a:solidFill>
            <a:schemeClr val="bg2"/>
          </a:solidFill>
          <a:ln/>
        </p:spPr>
        <p:txBody>
          <a:bodyPr/>
          <a:lstStyle/>
          <a:p>
            <a:endParaRPr lang="en-SS"/>
          </a:p>
        </p:txBody>
      </p:sp>
      <p:sp>
        <p:nvSpPr>
          <p:cNvPr id="14" name="LuBanknote circle"/>
          <p:cNvSpPr/>
          <p:nvPr/>
        </p:nvSpPr>
        <p:spPr>
          <a:xfrm>
            <a:off x="8554517" y="1874520"/>
            <a:ext cx="731520" cy="731520"/>
          </a:xfrm>
          <a:prstGeom prst="ellipse">
            <a:avLst/>
          </a:prstGeom>
          <a:solidFill>
            <a:srgbClr val="FFFFFF"/>
          </a:solidFill>
          <a:ln/>
        </p:spPr>
        <p:txBody>
          <a:bodyPr/>
          <a:lstStyle/>
          <a:p>
            <a:endParaRPr lang="en-SS"/>
          </a:p>
        </p:txBody>
      </p:sp>
      <p:pic>
        <p:nvPicPr>
          <p:cNvPr id="15" name="LuBanknote" descr="preencoded.png"/>
          <p:cNvPicPr>
            <a:picLocks noChangeAspect="1"/>
          </p:cNvPicPr>
          <p:nvPr/>
        </p:nvPicPr>
        <p:blipFill>
          <a:blip r:embed="rId5">
            <a:duotone>
              <a:srgbClr val="0058F5"/>
              <a:srgbClr val="0058F5"/>
            </a:duotone>
          </a:blip>
          <a:stretch>
            <a:fillRect/>
          </a:stretch>
        </p:blipFill>
        <p:spPr>
          <a:xfrm>
            <a:off x="8737397" y="2057400"/>
            <a:ext cx="365760" cy="365760"/>
          </a:xfrm>
          <a:prstGeom prst="rect">
            <a:avLst/>
          </a:prstGeom>
        </p:spPr>
      </p:pic>
      <p:sp>
        <p:nvSpPr>
          <p:cNvPr id="16" name="Text 11"/>
          <p:cNvSpPr txBox="1"/>
          <p:nvPr/>
        </p:nvSpPr>
        <p:spPr>
          <a:xfrm>
            <a:off x="8554517" y="2651760"/>
            <a:ext cx="2722778" cy="777240"/>
          </a:xfrm>
          <a:prstGeom prst="rect">
            <a:avLst/>
          </a:prstGeom>
          <a:noFill/>
          <a:ln/>
        </p:spPr>
        <p:txBody>
          <a:bodyPr wrap="square" lIns="0" tIns="0" rIns="0" bIns="0" rtlCol="0" anchor="b"/>
          <a:lstStyle/>
          <a:p>
            <a:pPr marL="0" indent="0">
              <a:buNone/>
            </a:pPr>
            <a:r>
              <a:rPr lang="en-US" sz="2000" b="1" dirty="0">
                <a:solidFill>
                  <a:schemeClr val="tx1"/>
                </a:solidFill>
              </a:rPr>
              <a:t>Cash that never matches</a:t>
            </a:r>
            <a:endParaRPr lang="en-US" sz="2000" dirty="0"/>
          </a:p>
        </p:txBody>
      </p:sp>
      <p:sp>
        <p:nvSpPr>
          <p:cNvPr id="17" name="Text 12"/>
          <p:cNvSpPr txBox="1"/>
          <p:nvPr/>
        </p:nvSpPr>
        <p:spPr>
          <a:xfrm>
            <a:off x="8554517" y="3474720"/>
            <a:ext cx="2722778" cy="1051560"/>
          </a:xfrm>
          <a:prstGeom prst="rect">
            <a:avLst/>
          </a:prstGeom>
          <a:noFill/>
          <a:ln/>
        </p:spPr>
        <p:txBody>
          <a:bodyPr wrap="square" lIns="0" tIns="0" rIns="0" bIns="0" rtlCol="0" anchor="t"/>
          <a:lstStyle/>
          <a:p>
            <a:pPr marL="0" indent="0">
              <a:buNone/>
            </a:pPr>
            <a:r>
              <a:rPr lang="en-US" sz="1500" dirty="0">
                <a:solidFill>
                  <a:schemeClr val="tx1"/>
                </a:solidFill>
              </a:rPr>
              <a:t>Tills counted by hand, with the difference discovered weeks later.</a:t>
            </a:r>
            <a:endParaRPr lang="en-US" sz="1500" dirty="0"/>
          </a:p>
        </p:txBody>
      </p:sp>
      <p:sp>
        <p:nvSpPr>
          <p:cNvPr id="19" name="Tagline banner">
            <a:extLst>
              <a:ext uri="{FF2B5EF4-FFF2-40B4-BE49-F238E27FC236}">
                <a16:creationId xmlns:a16="http://schemas.microsoft.com/office/drawing/2014/main" id="{A15A938A-8DD8-4E2A-83BE-AF1D2978A902}"/>
              </a:ext>
            </a:extLst>
          </p:cNvPr>
          <p:cNvSpPr/>
          <p:nvPr/>
        </p:nvSpPr>
        <p:spPr>
          <a:xfrm>
            <a:off x="548640" y="5029200"/>
            <a:ext cx="11094720" cy="812800"/>
          </a:xfrm>
          <a:prstGeom prst="roundRect">
            <a:avLst/>
          </a:prstGeom>
          <a:solidFill>
            <a:srgbClr val="0A2A6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SS"/>
          </a:p>
        </p:txBody>
      </p:sp>
      <p:sp>
        <p:nvSpPr>
          <p:cNvPr id="18" name="Text 13"/>
          <p:cNvSpPr txBox="1"/>
          <p:nvPr/>
        </p:nvSpPr>
        <p:spPr>
          <a:xfrm>
            <a:off x="548640" y="5029200"/>
            <a:ext cx="11094720" cy="812800"/>
          </a:xfrm>
          <a:prstGeom prst="rect">
            <a:avLst/>
          </a:prstGeom>
          <a:noFill/>
          <a:ln/>
        </p:spPr>
        <p:txBody>
          <a:bodyPr wrap="square" lIns="304800" tIns="0" rIns="0" bIns="0" rtlCol="0" anchor="ctr" anchorCtr="0">
            <a:noAutofit/>
          </a:bodyPr>
          <a:lstStyle/>
          <a:p>
            <a:pPr marL="0" indent="0">
              <a:buNone/>
            </a:pPr>
            <a:r>
              <a:rPr lang="en-US" dirty="0">
                <a:solidFill>
                  <a:srgbClr val="FFFFFF"/>
                </a:solidFill>
              </a:rPr>
              <a:t>Miles Pharmacy closes these gaps at the counter, in the store room and at month-end.</a:t>
            </a:r>
          </a:p>
        </p:txBody>
      </p:sp>
    </p:spTree>
    <p:extLst>
      <p:ext uri="{BB962C8B-B14F-4D97-AF65-F5344CB8AC3E}">
        <p14:creationId xmlns:p14="http://schemas.microsoft.com/office/powerpoint/2010/main" val="2540621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Everything a pharmacy runs on, in one system</a:t>
            </a:r>
            <a:endParaRPr lang="en-US" sz="3600" dirty="0"/>
          </a:p>
        </p:txBody>
      </p:sp>
      <p:sp>
        <p:nvSpPr>
          <p:cNvPr id="3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3</a:t>
            </a:fld>
            <a:endParaRPr lang="en-US"/>
          </a:p>
        </p:txBody>
      </p:sp>
      <p:sp>
        <p:nvSpPr>
          <p:cNvPr id="3" name="Medicines catalogue card"/>
          <p:cNvSpPr/>
          <p:nvPr/>
        </p:nvSpPr>
        <p:spPr>
          <a:xfrm>
            <a:off x="548640" y="1417320"/>
            <a:ext cx="3515258" cy="1417320"/>
          </a:xfrm>
          <a:prstGeom prst="roundRect">
            <a:avLst>
              <a:gd name="adj" fmla="val 6452"/>
            </a:avLst>
          </a:prstGeom>
          <a:solidFill>
            <a:schemeClr val="bg2"/>
          </a:solidFill>
          <a:ln/>
        </p:spPr>
        <p:txBody>
          <a:bodyPr/>
          <a:lstStyle/>
          <a:p>
            <a:endParaRPr lang="en-SS"/>
          </a:p>
        </p:txBody>
      </p:sp>
      <p:sp>
        <p:nvSpPr>
          <p:cNvPr id="4" name="LuPill circle"/>
          <p:cNvSpPr/>
          <p:nvPr/>
        </p:nvSpPr>
        <p:spPr>
          <a:xfrm>
            <a:off x="777240" y="1645920"/>
            <a:ext cx="548640" cy="548640"/>
          </a:xfrm>
          <a:prstGeom prst="ellipse">
            <a:avLst/>
          </a:prstGeom>
          <a:solidFill>
            <a:srgbClr val="FFFFFF"/>
          </a:solidFill>
          <a:ln/>
        </p:spPr>
        <p:txBody>
          <a:bodyPr/>
          <a:lstStyle/>
          <a:p>
            <a:endParaRPr lang="en-SS"/>
          </a:p>
        </p:txBody>
      </p:sp>
      <p:pic>
        <p:nvPicPr>
          <p:cNvPr id="5" name="LuPill" descr="preencoded.png"/>
          <p:cNvPicPr>
            <a:picLocks noChangeAspect="1"/>
          </p:cNvPicPr>
          <p:nvPr/>
        </p:nvPicPr>
        <p:blipFill>
          <a:blip r:embed="rId3">
            <a:duotone>
              <a:srgbClr val="0058F5"/>
              <a:srgbClr val="0058F5"/>
            </a:duotone>
          </a:blip>
          <a:stretch>
            <a:fillRect/>
          </a:stretch>
        </p:blipFill>
        <p:spPr>
          <a:xfrm>
            <a:off x="914400" y="1783080"/>
            <a:ext cx="274320" cy="274320"/>
          </a:xfrm>
          <a:prstGeom prst="rect">
            <a:avLst/>
          </a:prstGeom>
        </p:spPr>
      </p:pic>
      <p:sp>
        <p:nvSpPr>
          <p:cNvPr id="6" name="Text 3"/>
          <p:cNvSpPr txBox="1"/>
          <p:nvPr/>
        </p:nvSpPr>
        <p:spPr>
          <a:xfrm>
            <a:off x="1508760" y="158191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Medicines catalogue</a:t>
            </a:r>
            <a:endParaRPr lang="en-US" sz="1600" dirty="0"/>
          </a:p>
          <a:p>
            <a:pPr marL="0" indent="0">
              <a:spcAft>
                <a:spcPts val="300"/>
              </a:spcAft>
              <a:buNone/>
            </a:pPr>
            <a:r>
              <a:rPr lang="en-US" sz="1300" dirty="0">
                <a:solidFill>
                  <a:schemeClr val="tx1"/>
                </a:solidFill>
              </a:rPr>
              <a:t>Generic and brand names, strength, barcodes; prescription-only and controlled flags.</a:t>
            </a:r>
            <a:endParaRPr lang="en-US" sz="1600" dirty="0"/>
          </a:p>
        </p:txBody>
      </p:sp>
      <p:sp>
        <p:nvSpPr>
          <p:cNvPr id="7" name="Batches and expiry card"/>
          <p:cNvSpPr/>
          <p:nvPr/>
        </p:nvSpPr>
        <p:spPr>
          <a:xfrm>
            <a:off x="4338218" y="1417320"/>
            <a:ext cx="3515258" cy="1417320"/>
          </a:xfrm>
          <a:prstGeom prst="roundRect">
            <a:avLst>
              <a:gd name="adj" fmla="val 6452"/>
            </a:avLst>
          </a:prstGeom>
          <a:solidFill>
            <a:schemeClr val="bg2"/>
          </a:solidFill>
          <a:ln/>
        </p:spPr>
        <p:txBody>
          <a:bodyPr/>
          <a:lstStyle/>
          <a:p>
            <a:endParaRPr lang="en-SS"/>
          </a:p>
        </p:txBody>
      </p:sp>
      <p:sp>
        <p:nvSpPr>
          <p:cNvPr id="8" name="LuPackageSearch circle"/>
          <p:cNvSpPr/>
          <p:nvPr/>
        </p:nvSpPr>
        <p:spPr>
          <a:xfrm>
            <a:off x="4566818" y="1645920"/>
            <a:ext cx="548640" cy="548640"/>
          </a:xfrm>
          <a:prstGeom prst="ellipse">
            <a:avLst/>
          </a:prstGeom>
          <a:solidFill>
            <a:srgbClr val="FFFFFF"/>
          </a:solidFill>
          <a:ln/>
        </p:spPr>
        <p:txBody>
          <a:bodyPr/>
          <a:lstStyle/>
          <a:p>
            <a:endParaRPr lang="en-SS"/>
          </a:p>
        </p:txBody>
      </p:sp>
      <p:pic>
        <p:nvPicPr>
          <p:cNvPr id="9" name="LuPackageSearch" descr="preencoded.png"/>
          <p:cNvPicPr>
            <a:picLocks noChangeAspect="1"/>
          </p:cNvPicPr>
          <p:nvPr/>
        </p:nvPicPr>
        <p:blipFill>
          <a:blip r:embed="rId4">
            <a:duotone>
              <a:srgbClr val="0058F5"/>
              <a:srgbClr val="0058F5"/>
            </a:duotone>
          </a:blip>
          <a:stretch>
            <a:fillRect/>
          </a:stretch>
        </p:blipFill>
        <p:spPr>
          <a:xfrm>
            <a:off x="4703978" y="1783080"/>
            <a:ext cx="274320" cy="274320"/>
          </a:xfrm>
          <a:prstGeom prst="rect">
            <a:avLst/>
          </a:prstGeom>
        </p:spPr>
      </p:pic>
      <p:sp>
        <p:nvSpPr>
          <p:cNvPr id="10" name="Text 6"/>
          <p:cNvSpPr txBox="1"/>
          <p:nvPr/>
        </p:nvSpPr>
        <p:spPr>
          <a:xfrm>
            <a:off x="5298338" y="158191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Batches and expiry</a:t>
            </a:r>
            <a:endParaRPr lang="en-US" sz="1600" dirty="0"/>
          </a:p>
          <a:p>
            <a:pPr marL="0" indent="0">
              <a:spcAft>
                <a:spcPts val="300"/>
              </a:spcAft>
              <a:buNone/>
            </a:pPr>
            <a:r>
              <a:rPr lang="en-US" sz="1300" dirty="0">
                <a:solidFill>
                  <a:schemeClr val="tx1"/>
                </a:solidFill>
              </a:rPr>
              <a:t>The counter sells the batch that expires first and blocks expired stock.</a:t>
            </a:r>
            <a:endParaRPr lang="en-US" sz="1600" dirty="0"/>
          </a:p>
        </p:txBody>
      </p:sp>
      <p:sp>
        <p:nvSpPr>
          <p:cNvPr id="11" name="Quarantine and recalls card"/>
          <p:cNvSpPr/>
          <p:nvPr/>
        </p:nvSpPr>
        <p:spPr>
          <a:xfrm>
            <a:off x="8127797" y="1417320"/>
            <a:ext cx="3515258" cy="1417320"/>
          </a:xfrm>
          <a:prstGeom prst="roundRect">
            <a:avLst>
              <a:gd name="adj" fmla="val 6452"/>
            </a:avLst>
          </a:prstGeom>
          <a:solidFill>
            <a:schemeClr val="bg2"/>
          </a:solidFill>
          <a:ln/>
        </p:spPr>
        <p:txBody>
          <a:bodyPr/>
          <a:lstStyle/>
          <a:p>
            <a:endParaRPr lang="en-SS"/>
          </a:p>
        </p:txBody>
      </p:sp>
      <p:sp>
        <p:nvSpPr>
          <p:cNvPr id="12" name="LuShieldAlert circle"/>
          <p:cNvSpPr/>
          <p:nvPr/>
        </p:nvSpPr>
        <p:spPr>
          <a:xfrm>
            <a:off x="8356397" y="1645920"/>
            <a:ext cx="548640" cy="548640"/>
          </a:xfrm>
          <a:prstGeom prst="ellipse">
            <a:avLst/>
          </a:prstGeom>
          <a:solidFill>
            <a:srgbClr val="FFFFFF"/>
          </a:solidFill>
          <a:ln/>
        </p:spPr>
        <p:txBody>
          <a:bodyPr/>
          <a:lstStyle/>
          <a:p>
            <a:endParaRPr lang="en-SS"/>
          </a:p>
        </p:txBody>
      </p:sp>
      <p:pic>
        <p:nvPicPr>
          <p:cNvPr id="13" name="LuShieldAlert" descr="preencoded.png"/>
          <p:cNvPicPr>
            <a:picLocks noChangeAspect="1"/>
          </p:cNvPicPr>
          <p:nvPr/>
        </p:nvPicPr>
        <p:blipFill>
          <a:blip r:embed="rId5">
            <a:duotone>
              <a:srgbClr val="0058F5"/>
              <a:srgbClr val="0058F5"/>
            </a:duotone>
          </a:blip>
          <a:stretch>
            <a:fillRect/>
          </a:stretch>
        </p:blipFill>
        <p:spPr>
          <a:xfrm>
            <a:off x="8493557" y="1783080"/>
            <a:ext cx="274320" cy="274320"/>
          </a:xfrm>
          <a:prstGeom prst="rect">
            <a:avLst/>
          </a:prstGeom>
        </p:spPr>
      </p:pic>
      <p:sp>
        <p:nvSpPr>
          <p:cNvPr id="14" name="Text 9"/>
          <p:cNvSpPr txBox="1"/>
          <p:nvPr/>
        </p:nvSpPr>
        <p:spPr>
          <a:xfrm>
            <a:off x="9087917" y="158191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Quarantine and recalls</a:t>
            </a:r>
            <a:endParaRPr lang="en-US" sz="1600" dirty="0"/>
          </a:p>
          <a:p>
            <a:pPr marL="0" indent="0">
              <a:spcAft>
                <a:spcPts val="300"/>
              </a:spcAft>
              <a:buNone/>
            </a:pPr>
            <a:r>
              <a:rPr lang="en-US" sz="1300" dirty="0">
                <a:solidFill>
                  <a:schemeClr val="tx1"/>
                </a:solidFill>
              </a:rPr>
              <a:t>Hold a batch back in one step. Recalled stock never sells.</a:t>
            </a:r>
            <a:endParaRPr lang="en-US" sz="1600" dirty="0"/>
          </a:p>
        </p:txBody>
      </p:sp>
      <p:sp>
        <p:nvSpPr>
          <p:cNvPr id="15" name="A fast counter card"/>
          <p:cNvSpPr/>
          <p:nvPr/>
        </p:nvSpPr>
        <p:spPr>
          <a:xfrm>
            <a:off x="548640" y="3063240"/>
            <a:ext cx="3515258" cy="1417320"/>
          </a:xfrm>
          <a:prstGeom prst="roundRect">
            <a:avLst>
              <a:gd name="adj" fmla="val 6452"/>
            </a:avLst>
          </a:prstGeom>
          <a:solidFill>
            <a:schemeClr val="bg2"/>
          </a:solidFill>
          <a:ln/>
        </p:spPr>
        <p:txBody>
          <a:bodyPr/>
          <a:lstStyle/>
          <a:p>
            <a:endParaRPr lang="en-SS"/>
          </a:p>
        </p:txBody>
      </p:sp>
      <p:sp>
        <p:nvSpPr>
          <p:cNvPr id="16" name="LuScanBarcode circle"/>
          <p:cNvSpPr/>
          <p:nvPr/>
        </p:nvSpPr>
        <p:spPr>
          <a:xfrm>
            <a:off x="777240" y="3291840"/>
            <a:ext cx="548640" cy="548640"/>
          </a:xfrm>
          <a:prstGeom prst="ellipse">
            <a:avLst/>
          </a:prstGeom>
          <a:solidFill>
            <a:srgbClr val="FFFFFF"/>
          </a:solidFill>
          <a:ln/>
        </p:spPr>
        <p:txBody>
          <a:bodyPr/>
          <a:lstStyle/>
          <a:p>
            <a:endParaRPr lang="en-SS"/>
          </a:p>
        </p:txBody>
      </p:sp>
      <p:pic>
        <p:nvPicPr>
          <p:cNvPr id="17" name="LuScanBarcode" descr="preencoded.png"/>
          <p:cNvPicPr>
            <a:picLocks noChangeAspect="1"/>
          </p:cNvPicPr>
          <p:nvPr/>
        </p:nvPicPr>
        <p:blipFill>
          <a:blip r:embed="rId6">
            <a:duotone>
              <a:srgbClr val="0058F5"/>
              <a:srgbClr val="0058F5"/>
            </a:duotone>
          </a:blip>
          <a:stretch>
            <a:fillRect/>
          </a:stretch>
        </p:blipFill>
        <p:spPr>
          <a:xfrm>
            <a:off x="914400" y="3429000"/>
            <a:ext cx="274320" cy="274320"/>
          </a:xfrm>
          <a:prstGeom prst="rect">
            <a:avLst/>
          </a:prstGeom>
        </p:spPr>
      </p:pic>
      <p:sp>
        <p:nvSpPr>
          <p:cNvPr id="18" name="Text 12"/>
          <p:cNvSpPr txBox="1"/>
          <p:nvPr/>
        </p:nvSpPr>
        <p:spPr>
          <a:xfrm>
            <a:off x="1508760" y="322783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A fast counter</a:t>
            </a:r>
            <a:endParaRPr lang="en-US" sz="1600" dirty="0"/>
          </a:p>
          <a:p>
            <a:pPr marL="0" indent="0">
              <a:spcAft>
                <a:spcPts val="300"/>
              </a:spcAft>
              <a:buNone/>
            </a:pPr>
            <a:r>
              <a:rPr lang="en-US" sz="1300" dirty="0">
                <a:solidFill>
                  <a:schemeClr val="tx1"/>
                </a:solidFill>
              </a:rPr>
              <a:t>Search or scan; cash, mobile money or card; 80 mm receipts.</a:t>
            </a:r>
            <a:endParaRPr lang="en-US" sz="1600" dirty="0"/>
          </a:p>
        </p:txBody>
      </p:sp>
      <p:sp>
        <p:nvSpPr>
          <p:cNvPr id="19" name="Prescriptions card"/>
          <p:cNvSpPr/>
          <p:nvPr/>
        </p:nvSpPr>
        <p:spPr>
          <a:xfrm>
            <a:off x="4338218" y="3063240"/>
            <a:ext cx="3515258" cy="1417320"/>
          </a:xfrm>
          <a:prstGeom prst="roundRect">
            <a:avLst>
              <a:gd name="adj" fmla="val 6452"/>
            </a:avLst>
          </a:prstGeom>
          <a:solidFill>
            <a:schemeClr val="bg2"/>
          </a:solidFill>
          <a:ln/>
        </p:spPr>
        <p:txBody>
          <a:bodyPr/>
          <a:lstStyle/>
          <a:p>
            <a:endParaRPr lang="en-SS"/>
          </a:p>
        </p:txBody>
      </p:sp>
      <p:sp>
        <p:nvSpPr>
          <p:cNvPr id="20" name="LuFileCheck circle"/>
          <p:cNvSpPr/>
          <p:nvPr/>
        </p:nvSpPr>
        <p:spPr>
          <a:xfrm>
            <a:off x="4566818" y="3291840"/>
            <a:ext cx="548640" cy="548640"/>
          </a:xfrm>
          <a:prstGeom prst="ellipse">
            <a:avLst/>
          </a:prstGeom>
          <a:solidFill>
            <a:srgbClr val="FFFFFF"/>
          </a:solidFill>
          <a:ln/>
        </p:spPr>
        <p:txBody>
          <a:bodyPr/>
          <a:lstStyle/>
          <a:p>
            <a:endParaRPr lang="en-SS"/>
          </a:p>
        </p:txBody>
      </p:sp>
      <p:pic>
        <p:nvPicPr>
          <p:cNvPr id="21" name="LuFileCheck" descr="preencoded.png"/>
          <p:cNvPicPr>
            <a:picLocks noChangeAspect="1"/>
          </p:cNvPicPr>
          <p:nvPr/>
        </p:nvPicPr>
        <p:blipFill>
          <a:blip r:embed="rId7">
            <a:duotone>
              <a:srgbClr val="0058F5"/>
              <a:srgbClr val="0058F5"/>
            </a:duotone>
          </a:blip>
          <a:stretch>
            <a:fillRect/>
          </a:stretch>
        </p:blipFill>
        <p:spPr>
          <a:xfrm>
            <a:off x="4703978" y="3429000"/>
            <a:ext cx="274320" cy="274320"/>
          </a:xfrm>
          <a:prstGeom prst="rect">
            <a:avLst/>
          </a:prstGeom>
        </p:spPr>
      </p:pic>
      <p:sp>
        <p:nvSpPr>
          <p:cNvPr id="22" name="Text 15"/>
          <p:cNvSpPr txBox="1"/>
          <p:nvPr/>
        </p:nvSpPr>
        <p:spPr>
          <a:xfrm>
            <a:off x="5298338" y="322783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Prescriptions</a:t>
            </a:r>
            <a:endParaRPr lang="en-US" sz="1600" dirty="0"/>
          </a:p>
          <a:p>
            <a:pPr marL="0" indent="0">
              <a:spcAft>
                <a:spcPts val="300"/>
              </a:spcAft>
              <a:buNone/>
            </a:pPr>
            <a:r>
              <a:rPr lang="en-US" sz="1300" dirty="0">
                <a:solidFill>
                  <a:schemeClr val="tx1"/>
                </a:solidFill>
              </a:rPr>
              <a:t>Recorded, verified by a pharmacist, dispensed in part when stock is short.</a:t>
            </a:r>
            <a:endParaRPr lang="en-US" sz="1600" dirty="0"/>
          </a:p>
        </p:txBody>
      </p:sp>
      <p:sp>
        <p:nvSpPr>
          <p:cNvPr id="23" name="Controlled drugs register card"/>
          <p:cNvSpPr/>
          <p:nvPr/>
        </p:nvSpPr>
        <p:spPr>
          <a:xfrm>
            <a:off x="8127797" y="3063240"/>
            <a:ext cx="3515258" cy="1417320"/>
          </a:xfrm>
          <a:prstGeom prst="roundRect">
            <a:avLst>
              <a:gd name="adj" fmla="val 6452"/>
            </a:avLst>
          </a:prstGeom>
          <a:solidFill>
            <a:schemeClr val="bg2"/>
          </a:solidFill>
          <a:ln/>
        </p:spPr>
        <p:txBody>
          <a:bodyPr/>
          <a:lstStyle/>
          <a:p>
            <a:endParaRPr lang="en-SS"/>
          </a:p>
        </p:txBody>
      </p:sp>
      <p:sp>
        <p:nvSpPr>
          <p:cNvPr id="24" name="LuBookOpenCheck circle"/>
          <p:cNvSpPr/>
          <p:nvPr/>
        </p:nvSpPr>
        <p:spPr>
          <a:xfrm>
            <a:off x="8356397" y="3291840"/>
            <a:ext cx="548640" cy="548640"/>
          </a:xfrm>
          <a:prstGeom prst="ellipse">
            <a:avLst/>
          </a:prstGeom>
          <a:solidFill>
            <a:srgbClr val="FFFFFF"/>
          </a:solidFill>
          <a:ln/>
        </p:spPr>
        <p:txBody>
          <a:bodyPr/>
          <a:lstStyle/>
          <a:p>
            <a:endParaRPr lang="en-SS"/>
          </a:p>
        </p:txBody>
      </p:sp>
      <p:pic>
        <p:nvPicPr>
          <p:cNvPr id="25" name="LuBookOpenCheck" descr="preencoded.png"/>
          <p:cNvPicPr>
            <a:picLocks noChangeAspect="1"/>
          </p:cNvPicPr>
          <p:nvPr/>
        </p:nvPicPr>
        <p:blipFill>
          <a:blip r:embed="rId8">
            <a:duotone>
              <a:srgbClr val="0058F5"/>
              <a:srgbClr val="0058F5"/>
            </a:duotone>
          </a:blip>
          <a:stretch>
            <a:fillRect/>
          </a:stretch>
        </p:blipFill>
        <p:spPr>
          <a:xfrm>
            <a:off x="8493557" y="3429000"/>
            <a:ext cx="274320" cy="274320"/>
          </a:xfrm>
          <a:prstGeom prst="rect">
            <a:avLst/>
          </a:prstGeom>
        </p:spPr>
      </p:pic>
      <p:sp>
        <p:nvSpPr>
          <p:cNvPr id="26" name="Text 18"/>
          <p:cNvSpPr txBox="1"/>
          <p:nvPr/>
        </p:nvSpPr>
        <p:spPr>
          <a:xfrm>
            <a:off x="9087917" y="322783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Controlled drugs register</a:t>
            </a:r>
            <a:endParaRPr lang="en-US" sz="1600" dirty="0"/>
          </a:p>
          <a:p>
            <a:pPr marL="0" indent="0">
              <a:spcAft>
                <a:spcPts val="300"/>
              </a:spcAft>
              <a:buNone/>
            </a:pPr>
            <a:r>
              <a:rPr lang="en-US" sz="1300" dirty="0">
                <a:solidFill>
                  <a:schemeClr val="tx1"/>
                </a:solidFill>
              </a:rPr>
              <a:t>Every movement of a controlled item, ready for inspection.</a:t>
            </a:r>
            <a:endParaRPr lang="en-US" sz="1600" dirty="0"/>
          </a:p>
        </p:txBody>
      </p:sp>
      <p:sp>
        <p:nvSpPr>
          <p:cNvPr id="27" name="Tills and cash-up card"/>
          <p:cNvSpPr/>
          <p:nvPr/>
        </p:nvSpPr>
        <p:spPr>
          <a:xfrm>
            <a:off x="548640" y="4709160"/>
            <a:ext cx="3515258" cy="1417320"/>
          </a:xfrm>
          <a:prstGeom prst="roundRect">
            <a:avLst>
              <a:gd name="adj" fmla="val 6452"/>
            </a:avLst>
          </a:prstGeom>
          <a:solidFill>
            <a:schemeClr val="bg2"/>
          </a:solidFill>
          <a:ln/>
        </p:spPr>
        <p:txBody>
          <a:bodyPr/>
          <a:lstStyle/>
          <a:p>
            <a:endParaRPr lang="en-SS"/>
          </a:p>
        </p:txBody>
      </p:sp>
      <p:sp>
        <p:nvSpPr>
          <p:cNvPr id="28" name="LuWallet circle"/>
          <p:cNvSpPr/>
          <p:nvPr/>
        </p:nvSpPr>
        <p:spPr>
          <a:xfrm>
            <a:off x="777240" y="4937760"/>
            <a:ext cx="548640" cy="548640"/>
          </a:xfrm>
          <a:prstGeom prst="ellipse">
            <a:avLst/>
          </a:prstGeom>
          <a:solidFill>
            <a:srgbClr val="FFFFFF"/>
          </a:solidFill>
          <a:ln/>
        </p:spPr>
        <p:txBody>
          <a:bodyPr/>
          <a:lstStyle/>
          <a:p>
            <a:endParaRPr lang="en-SS"/>
          </a:p>
        </p:txBody>
      </p:sp>
      <p:pic>
        <p:nvPicPr>
          <p:cNvPr id="29" name="LuWallet" descr="preencoded.png"/>
          <p:cNvPicPr>
            <a:picLocks noChangeAspect="1"/>
          </p:cNvPicPr>
          <p:nvPr/>
        </p:nvPicPr>
        <p:blipFill>
          <a:blip r:embed="rId9">
            <a:duotone>
              <a:srgbClr val="0058F5"/>
              <a:srgbClr val="0058F5"/>
            </a:duotone>
          </a:blip>
          <a:stretch>
            <a:fillRect/>
          </a:stretch>
        </p:blipFill>
        <p:spPr>
          <a:xfrm>
            <a:off x="914400" y="5074920"/>
            <a:ext cx="274320" cy="274320"/>
          </a:xfrm>
          <a:prstGeom prst="rect">
            <a:avLst/>
          </a:prstGeom>
        </p:spPr>
      </p:pic>
      <p:sp>
        <p:nvSpPr>
          <p:cNvPr id="30" name="Text 21"/>
          <p:cNvSpPr txBox="1"/>
          <p:nvPr/>
        </p:nvSpPr>
        <p:spPr>
          <a:xfrm>
            <a:off x="1508760" y="487375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Tills and cash-up</a:t>
            </a:r>
            <a:endParaRPr lang="en-US" sz="1600" dirty="0"/>
          </a:p>
          <a:p>
            <a:pPr marL="0" indent="0">
              <a:spcAft>
                <a:spcPts val="300"/>
              </a:spcAft>
              <a:buNone/>
            </a:pPr>
            <a:r>
              <a:rPr lang="en-US" sz="1300" dirty="0">
                <a:solidFill>
                  <a:schemeClr val="tx1"/>
                </a:solidFill>
              </a:rPr>
              <a:t>Each cashier counts their till; over or short posts to Finance.</a:t>
            </a:r>
            <a:endParaRPr lang="en-US" sz="1600" dirty="0"/>
          </a:p>
        </p:txBody>
      </p:sp>
      <p:sp>
        <p:nvSpPr>
          <p:cNvPr id="31" name="Purchasing card"/>
          <p:cNvSpPr/>
          <p:nvPr/>
        </p:nvSpPr>
        <p:spPr>
          <a:xfrm>
            <a:off x="4338218" y="4709160"/>
            <a:ext cx="3515258" cy="1417320"/>
          </a:xfrm>
          <a:prstGeom prst="roundRect">
            <a:avLst>
              <a:gd name="adj" fmla="val 6452"/>
            </a:avLst>
          </a:prstGeom>
          <a:solidFill>
            <a:schemeClr val="bg2"/>
          </a:solidFill>
          <a:ln/>
        </p:spPr>
        <p:txBody>
          <a:bodyPr/>
          <a:lstStyle/>
          <a:p>
            <a:endParaRPr lang="en-SS"/>
          </a:p>
        </p:txBody>
      </p:sp>
      <p:sp>
        <p:nvSpPr>
          <p:cNvPr id="32" name="LuTruck circle"/>
          <p:cNvSpPr/>
          <p:nvPr/>
        </p:nvSpPr>
        <p:spPr>
          <a:xfrm>
            <a:off x="4566818" y="4937760"/>
            <a:ext cx="548640" cy="548640"/>
          </a:xfrm>
          <a:prstGeom prst="ellipse">
            <a:avLst/>
          </a:prstGeom>
          <a:solidFill>
            <a:srgbClr val="FFFFFF"/>
          </a:solidFill>
          <a:ln/>
        </p:spPr>
        <p:txBody>
          <a:bodyPr/>
          <a:lstStyle/>
          <a:p>
            <a:endParaRPr lang="en-SS"/>
          </a:p>
        </p:txBody>
      </p:sp>
      <p:pic>
        <p:nvPicPr>
          <p:cNvPr id="33" name="LuTruck" descr="preencoded.png"/>
          <p:cNvPicPr>
            <a:picLocks noChangeAspect="1"/>
          </p:cNvPicPr>
          <p:nvPr/>
        </p:nvPicPr>
        <p:blipFill>
          <a:blip r:embed="rId10">
            <a:duotone>
              <a:srgbClr val="0058F5"/>
              <a:srgbClr val="0058F5"/>
            </a:duotone>
          </a:blip>
          <a:stretch>
            <a:fillRect/>
          </a:stretch>
        </p:blipFill>
        <p:spPr>
          <a:xfrm>
            <a:off x="4703978" y="5074920"/>
            <a:ext cx="274320" cy="274320"/>
          </a:xfrm>
          <a:prstGeom prst="rect">
            <a:avLst/>
          </a:prstGeom>
        </p:spPr>
      </p:pic>
      <p:sp>
        <p:nvSpPr>
          <p:cNvPr id="34" name="Text 24"/>
          <p:cNvSpPr txBox="1"/>
          <p:nvPr/>
        </p:nvSpPr>
        <p:spPr>
          <a:xfrm>
            <a:off x="5298338" y="487375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Purchasing</a:t>
            </a:r>
            <a:endParaRPr lang="en-US" sz="1600" dirty="0"/>
          </a:p>
          <a:p>
            <a:pPr marL="0" indent="0">
              <a:spcAft>
                <a:spcPts val="300"/>
              </a:spcAft>
              <a:buNone/>
            </a:pPr>
            <a:r>
              <a:rPr lang="en-US" sz="1300" dirty="0">
                <a:solidFill>
                  <a:schemeClr val="tx1"/>
                </a:solidFill>
              </a:rPr>
              <a:t>Purchase orders, goods received, supplier returns and branch transfers.</a:t>
            </a:r>
            <a:endParaRPr lang="en-US" sz="1600" dirty="0"/>
          </a:p>
        </p:txBody>
      </p:sp>
      <p:sp>
        <p:nvSpPr>
          <p:cNvPr id="35" name="Reports card"/>
          <p:cNvSpPr/>
          <p:nvPr/>
        </p:nvSpPr>
        <p:spPr>
          <a:xfrm>
            <a:off x="8127797" y="4709160"/>
            <a:ext cx="3515258" cy="1417320"/>
          </a:xfrm>
          <a:prstGeom prst="roundRect">
            <a:avLst>
              <a:gd name="adj" fmla="val 6452"/>
            </a:avLst>
          </a:prstGeom>
          <a:solidFill>
            <a:schemeClr val="bg2"/>
          </a:solidFill>
          <a:ln/>
        </p:spPr>
        <p:txBody>
          <a:bodyPr/>
          <a:lstStyle/>
          <a:p>
            <a:endParaRPr lang="en-SS"/>
          </a:p>
        </p:txBody>
      </p:sp>
      <p:sp>
        <p:nvSpPr>
          <p:cNvPr id="36" name="LuChartColumn circle"/>
          <p:cNvSpPr/>
          <p:nvPr/>
        </p:nvSpPr>
        <p:spPr>
          <a:xfrm>
            <a:off x="8356397" y="4937760"/>
            <a:ext cx="548640" cy="548640"/>
          </a:xfrm>
          <a:prstGeom prst="ellipse">
            <a:avLst/>
          </a:prstGeom>
          <a:solidFill>
            <a:srgbClr val="FFFFFF"/>
          </a:solidFill>
          <a:ln/>
        </p:spPr>
        <p:txBody>
          <a:bodyPr/>
          <a:lstStyle/>
          <a:p>
            <a:endParaRPr lang="en-SS"/>
          </a:p>
        </p:txBody>
      </p:sp>
      <p:pic>
        <p:nvPicPr>
          <p:cNvPr id="37" name="LuChartColumn" descr="preencoded.png"/>
          <p:cNvPicPr>
            <a:picLocks noChangeAspect="1"/>
          </p:cNvPicPr>
          <p:nvPr/>
        </p:nvPicPr>
        <p:blipFill>
          <a:blip r:embed="rId11">
            <a:duotone>
              <a:srgbClr val="0058F5"/>
              <a:srgbClr val="0058F5"/>
            </a:duotone>
          </a:blip>
          <a:stretch>
            <a:fillRect/>
          </a:stretch>
        </p:blipFill>
        <p:spPr>
          <a:xfrm>
            <a:off x="8493557" y="5074920"/>
            <a:ext cx="274320" cy="274320"/>
          </a:xfrm>
          <a:prstGeom prst="rect">
            <a:avLst/>
          </a:prstGeom>
        </p:spPr>
      </p:pic>
      <p:sp>
        <p:nvSpPr>
          <p:cNvPr id="38" name="Text 27"/>
          <p:cNvSpPr txBox="1"/>
          <p:nvPr/>
        </p:nvSpPr>
        <p:spPr>
          <a:xfrm>
            <a:off x="9087917" y="4873752"/>
            <a:ext cx="2372258" cy="1143000"/>
          </a:xfrm>
          <a:prstGeom prst="rect">
            <a:avLst/>
          </a:prstGeom>
          <a:noFill/>
          <a:ln/>
        </p:spPr>
        <p:txBody>
          <a:bodyPr wrap="square" lIns="0" tIns="0" rIns="0" bIns="0" rtlCol="0" anchor="t"/>
          <a:lstStyle/>
          <a:p>
            <a:pPr marL="0" indent="0">
              <a:spcAft>
                <a:spcPts val="300"/>
              </a:spcAft>
              <a:buNone/>
            </a:pPr>
            <a:r>
              <a:rPr lang="en-US" sz="1600" b="1" dirty="0">
                <a:solidFill>
                  <a:schemeClr val="tx1"/>
                </a:solidFill>
              </a:rPr>
              <a:t>Reports</a:t>
            </a:r>
            <a:endParaRPr lang="en-US" sz="1600" dirty="0"/>
          </a:p>
          <a:p>
            <a:pPr marL="0" indent="0">
              <a:spcAft>
                <a:spcPts val="300"/>
              </a:spcAft>
              <a:buNone/>
            </a:pPr>
            <a:r>
              <a:rPr lang="en-US" sz="1300" dirty="0">
                <a:solidFill>
                  <a:schemeClr val="tx1"/>
                </a:solidFill>
              </a:rPr>
              <a:t>Near-expiry, sales, profitability and cashiers, exportable to CSV.</a:t>
            </a:r>
            <a:endParaRPr lang="en-US" sz="1600" dirty="0"/>
          </a:p>
        </p:txBody>
      </p:sp>
    </p:spTree>
    <p:extLst>
      <p:ext uri="{BB962C8B-B14F-4D97-AF65-F5344CB8AC3E}">
        <p14:creationId xmlns:p14="http://schemas.microsoft.com/office/powerpoint/2010/main" val="1935711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5" name="Screenshot backdrop">
            <a:extLst>
              <a:ext uri="{FF2B5EF4-FFF2-40B4-BE49-F238E27FC236}">
                <a16:creationId xmlns:a16="http://schemas.microsoft.com/office/drawing/2014/main" id="{76BE1E07-0EB8-4791-A873-FC09CD1FE292}"/>
              </a:ext>
            </a:extLst>
          </p:cNvPr>
          <p:cNvSpPr/>
          <p:nvPr/>
        </p:nvSpPr>
        <p:spPr>
          <a:xfrm>
            <a:off x="0" y="1320800"/>
            <a:ext cx="9334500" cy="4876800"/>
          </a:xfrm>
          <a:prstGeom prst="rect">
            <a:avLst/>
          </a:prstGeom>
          <a:solidFill>
            <a:srgbClr val="EEF4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SS"/>
          </a:p>
        </p:txBody>
      </p:sp>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Each branch at a glance</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4</a:t>
            </a:fld>
            <a:endParaRPr lang="en-US"/>
          </a:p>
        </p:txBody>
      </p:sp>
      <p:sp>
        <p:nvSpPr>
          <p:cNvPr id="3" name="Each branch at a glance screenshot frame"/>
          <p:cNvSpPr/>
          <p:nvPr/>
        </p:nvSpPr>
        <p:spPr>
          <a:xfrm>
            <a:off x="546100" y="1600200"/>
            <a:ext cx="8636000" cy="3721212"/>
          </a:xfrm>
          <a:prstGeom prst="roundRect">
            <a:avLst>
              <a:gd name="adj" fmla="val 2181"/>
            </a:avLst>
          </a:prstGeom>
          <a:solidFill>
            <a:schemeClr val="bg1"/>
          </a:solidFill>
          <a:ln w="12700">
            <a:solidFill>
              <a:schemeClr val="accent5"/>
            </a:solidFill>
            <a:prstDash val="solid"/>
          </a:ln>
          <a:effectLst>
            <a:outerShdw blurRad="152400" dist="50800" dir="5400000" algn="bl" rotWithShape="0">
              <a:srgbClr val="0A2260">
                <a:alpha val="18000"/>
              </a:srgbClr>
            </a:outerShdw>
          </a:effectLst>
        </p:spPr>
        <p:txBody>
          <a:bodyPr/>
          <a:lstStyle/>
          <a:p>
            <a:endParaRPr lang="en-SS"/>
          </a:p>
        </p:txBody>
      </p:sp>
      <p:pic>
        <p:nvPicPr>
          <p:cNvPr id="4" name="Each branch at a glance screenshot" descr="Each branch at a glance screenshot"/>
          <p:cNvPicPr>
            <a:picLocks noChangeAspect="1"/>
          </p:cNvPicPr>
          <p:nvPr/>
        </p:nvPicPr>
        <p:blipFill>
          <a:blip r:embed="rId3"/>
          <a:stretch>
            <a:fillRect/>
          </a:stretch>
        </p:blipFill>
        <p:spPr>
          <a:xfrm>
            <a:off x="609600" y="1663700"/>
            <a:ext cx="8509000" cy="3594212"/>
          </a:xfrm>
          <a:prstGeom prst="rect">
            <a:avLst/>
          </a:prstGeom>
        </p:spPr>
      </p:pic>
      <p:sp>
        <p:nvSpPr>
          <p:cNvPr id="5" name="LuBanknote circle"/>
          <p:cNvSpPr/>
          <p:nvPr/>
        </p:nvSpPr>
        <p:spPr>
          <a:xfrm>
            <a:off x="9550400" y="1371600"/>
            <a:ext cx="406400" cy="406400"/>
          </a:xfrm>
          <a:prstGeom prst="ellipse">
            <a:avLst/>
          </a:prstGeom>
          <a:solidFill>
            <a:srgbClr val="EEF4FF"/>
          </a:solidFill>
          <a:ln/>
        </p:spPr>
        <p:txBody>
          <a:bodyPr/>
          <a:lstStyle/>
          <a:p>
            <a:endParaRPr lang="en-SS"/>
          </a:p>
        </p:txBody>
      </p:sp>
      <p:pic>
        <p:nvPicPr>
          <p:cNvPr id="6" name="LuBanknote" descr="preencoded.png"/>
          <p:cNvPicPr>
            <a:picLocks noChangeAspect="1"/>
          </p:cNvPicPr>
          <p:nvPr/>
        </p:nvPicPr>
        <p:blipFill>
          <a:blip r:embed="rId4">
            <a:duotone>
              <a:srgbClr val="0058F5"/>
              <a:srgbClr val="0058F5"/>
            </a:duotone>
          </a:blip>
          <a:stretch>
            <a:fillRect/>
          </a:stretch>
        </p:blipFill>
        <p:spPr>
          <a:xfrm>
            <a:off x="9639300" y="1460500"/>
            <a:ext cx="228600" cy="228600"/>
          </a:xfrm>
          <a:prstGeom prst="rect">
            <a:avLst/>
          </a:prstGeom>
        </p:spPr>
      </p:pic>
      <p:sp>
        <p:nvSpPr>
          <p:cNvPr id="7" name="Text 3"/>
          <p:cNvSpPr txBox="1"/>
          <p:nvPr/>
        </p:nvSpPr>
        <p:spPr>
          <a:xfrm>
            <a:off x="9461500" y="1803400"/>
            <a:ext cx="2184400" cy="671979"/>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Today's takings</a:t>
            </a:r>
            <a:endParaRPr lang="en-US" sz="1600" dirty="0"/>
          </a:p>
          <a:p>
            <a:pPr marL="0" indent="0">
              <a:spcAft>
                <a:spcPts val="200"/>
              </a:spcAft>
              <a:buNone/>
            </a:pPr>
            <a:r>
              <a:rPr lang="en-US" sz="1300" dirty="0">
                <a:solidFill>
                  <a:schemeClr val="tx1"/>
                </a:solidFill>
              </a:rPr>
              <a:t>Sales so far today at the branch you are working in.</a:t>
            </a:r>
            <a:endParaRPr lang="en-US" sz="1600" dirty="0"/>
          </a:p>
        </p:txBody>
      </p:sp>
      <p:sp>
        <p:nvSpPr>
          <p:cNvPr id="8" name="LuPackageSearch circle"/>
          <p:cNvSpPr/>
          <p:nvPr/>
        </p:nvSpPr>
        <p:spPr>
          <a:xfrm>
            <a:off x="9550400" y="2856379"/>
            <a:ext cx="406400" cy="406400"/>
          </a:xfrm>
          <a:prstGeom prst="ellipse">
            <a:avLst/>
          </a:prstGeom>
          <a:solidFill>
            <a:srgbClr val="EEF4FF"/>
          </a:solidFill>
          <a:ln/>
        </p:spPr>
        <p:txBody>
          <a:bodyPr/>
          <a:lstStyle/>
          <a:p>
            <a:endParaRPr lang="en-SS"/>
          </a:p>
        </p:txBody>
      </p:sp>
      <p:pic>
        <p:nvPicPr>
          <p:cNvPr id="9" name="LuPackageSearch" descr="preencoded.png"/>
          <p:cNvPicPr>
            <a:picLocks noChangeAspect="1"/>
          </p:cNvPicPr>
          <p:nvPr/>
        </p:nvPicPr>
        <p:blipFill>
          <a:blip r:embed="rId5">
            <a:duotone>
              <a:srgbClr val="0058F5"/>
              <a:srgbClr val="0058F5"/>
            </a:duotone>
          </a:blip>
          <a:stretch>
            <a:fillRect/>
          </a:stretch>
        </p:blipFill>
        <p:spPr>
          <a:xfrm>
            <a:off x="9639300" y="2945279"/>
            <a:ext cx="228600" cy="228600"/>
          </a:xfrm>
          <a:prstGeom prst="rect">
            <a:avLst/>
          </a:prstGeom>
        </p:spPr>
      </p:pic>
      <p:sp>
        <p:nvSpPr>
          <p:cNvPr id="10" name="Text 5"/>
          <p:cNvSpPr txBox="1"/>
          <p:nvPr/>
        </p:nvSpPr>
        <p:spPr>
          <a:xfrm>
            <a:off x="9461500" y="3288179"/>
            <a:ext cx="2184400" cy="872034"/>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Low and expiring stock</a:t>
            </a:r>
            <a:endParaRPr lang="en-US" sz="1600" dirty="0"/>
          </a:p>
          <a:p>
            <a:pPr marL="0" indent="0">
              <a:spcAft>
                <a:spcPts val="200"/>
              </a:spcAft>
              <a:buNone/>
            </a:pPr>
            <a:r>
              <a:rPr lang="en-US" sz="1300" dirty="0">
                <a:solidFill>
                  <a:schemeClr val="tx1"/>
                </a:solidFill>
              </a:rPr>
              <a:t>Medicines at their reorder level, and batches expiring within 90 days.</a:t>
            </a:r>
            <a:endParaRPr lang="en-US" sz="1600" dirty="0"/>
          </a:p>
        </p:txBody>
      </p:sp>
      <p:sp>
        <p:nvSpPr>
          <p:cNvPr id="11" name="LuFileCheck circle"/>
          <p:cNvSpPr/>
          <p:nvPr/>
        </p:nvSpPr>
        <p:spPr>
          <a:xfrm>
            <a:off x="9550400" y="4541213"/>
            <a:ext cx="406400" cy="406400"/>
          </a:xfrm>
          <a:prstGeom prst="ellipse">
            <a:avLst/>
          </a:prstGeom>
          <a:solidFill>
            <a:srgbClr val="EEF4FF"/>
          </a:solidFill>
          <a:ln/>
        </p:spPr>
        <p:txBody>
          <a:bodyPr/>
          <a:lstStyle/>
          <a:p>
            <a:endParaRPr lang="en-SS"/>
          </a:p>
        </p:txBody>
      </p:sp>
      <p:pic>
        <p:nvPicPr>
          <p:cNvPr id="12" name="LuFileCheck" descr="preencoded.png"/>
          <p:cNvPicPr>
            <a:picLocks noChangeAspect="1"/>
          </p:cNvPicPr>
          <p:nvPr/>
        </p:nvPicPr>
        <p:blipFill>
          <a:blip r:embed="rId6">
            <a:duotone>
              <a:srgbClr val="0058F5"/>
              <a:srgbClr val="0058F5"/>
            </a:duotone>
          </a:blip>
          <a:stretch>
            <a:fillRect/>
          </a:stretch>
        </p:blipFill>
        <p:spPr>
          <a:xfrm>
            <a:off x="9639300" y="4630113"/>
            <a:ext cx="228600" cy="228600"/>
          </a:xfrm>
          <a:prstGeom prst="rect">
            <a:avLst/>
          </a:prstGeom>
        </p:spPr>
      </p:pic>
      <p:sp>
        <p:nvSpPr>
          <p:cNvPr id="13" name="Text 7"/>
          <p:cNvSpPr txBox="1"/>
          <p:nvPr/>
        </p:nvSpPr>
        <p:spPr>
          <a:xfrm>
            <a:off x="9461500" y="4973013"/>
            <a:ext cx="2184400" cy="671979"/>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Prescriptions waiting</a:t>
            </a:r>
            <a:endParaRPr lang="en-US" sz="1600" dirty="0"/>
          </a:p>
          <a:p>
            <a:pPr marL="0" indent="0">
              <a:spcAft>
                <a:spcPts val="200"/>
              </a:spcAft>
              <a:buNone/>
            </a:pPr>
            <a:r>
              <a:rPr lang="en-US" sz="1300" dirty="0">
                <a:solidFill>
                  <a:schemeClr val="tx1"/>
                </a:solidFill>
              </a:rPr>
              <a:t>Recorded prescriptions still waiting for a pharmacist.</a:t>
            </a:r>
            <a:endParaRPr lang="en-US" sz="1600" dirty="0"/>
          </a:p>
        </p:txBody>
      </p:sp>
      <p:sp>
        <p:nvSpPr>
          <p:cNvPr id="14" name="Text 8"/>
          <p:cNvSpPr txBox="1"/>
          <p:nvPr/>
        </p:nvSpPr>
        <p:spPr>
          <a:xfrm>
            <a:off x="546100" y="5486400"/>
            <a:ext cx="8636000" cy="457200"/>
          </a:xfrm>
          <a:prstGeom prst="rect">
            <a:avLst/>
          </a:prstGeom>
          <a:noFill/>
          <a:ln/>
        </p:spPr>
        <p:txBody>
          <a:bodyPr wrap="square" lIns="0" tIns="0" rIns="0" bIns="0" rtlCol="0" anchor="ctr"/>
          <a:lstStyle/>
          <a:p>
            <a:pPr marL="0" indent="0">
              <a:buNone/>
            </a:pPr>
            <a:r>
              <a:rPr lang="en-US" sz="1400" i="1" dirty="0">
                <a:solidFill>
                  <a:schemeClr val="accent4"/>
                </a:solidFill>
              </a:rPr>
              <a:t>Staff choose their branch once; stock, sales and receipts follow it.</a:t>
            </a:r>
            <a:endParaRPr lang="en-US" sz="1400" dirty="0"/>
          </a:p>
        </p:txBody>
      </p:sp>
    </p:spTree>
    <p:extLst>
      <p:ext uri="{BB962C8B-B14F-4D97-AF65-F5344CB8AC3E}">
        <p14:creationId xmlns:p14="http://schemas.microsoft.com/office/powerpoint/2010/main" val="3194090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5" name="Screenshot backdrop">
            <a:extLst>
              <a:ext uri="{FF2B5EF4-FFF2-40B4-BE49-F238E27FC236}">
                <a16:creationId xmlns:a16="http://schemas.microsoft.com/office/drawing/2014/main" id="{B30D21D2-13BD-4F26-BAC0-71FD696AE717}"/>
              </a:ext>
            </a:extLst>
          </p:cNvPr>
          <p:cNvSpPr/>
          <p:nvPr/>
        </p:nvSpPr>
        <p:spPr>
          <a:xfrm>
            <a:off x="3111500" y="1320800"/>
            <a:ext cx="9080500" cy="4876800"/>
          </a:xfrm>
          <a:prstGeom prst="rect">
            <a:avLst/>
          </a:prstGeom>
          <a:solidFill>
            <a:srgbClr val="EEF4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SS"/>
          </a:p>
        </p:txBody>
      </p:sp>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A counter that keeps the queue moving</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5</a:t>
            </a:fld>
            <a:endParaRPr lang="en-US"/>
          </a:p>
        </p:txBody>
      </p:sp>
      <p:sp>
        <p:nvSpPr>
          <p:cNvPr id="3" name="A counter that keeps the queue moving screenshot frame"/>
          <p:cNvSpPr/>
          <p:nvPr/>
        </p:nvSpPr>
        <p:spPr>
          <a:xfrm>
            <a:off x="3263900" y="1600200"/>
            <a:ext cx="8382000" cy="3614420"/>
          </a:xfrm>
          <a:prstGeom prst="roundRect">
            <a:avLst>
              <a:gd name="adj" fmla="val 2181"/>
            </a:avLst>
          </a:prstGeom>
          <a:solidFill>
            <a:schemeClr val="bg1"/>
          </a:solidFill>
          <a:ln w="12700">
            <a:solidFill>
              <a:schemeClr val="accent5"/>
            </a:solidFill>
            <a:prstDash val="solid"/>
          </a:ln>
          <a:effectLst>
            <a:outerShdw blurRad="152400" dist="50800" dir="5400000" algn="bl" rotWithShape="0">
              <a:srgbClr val="0A2260">
                <a:alpha val="18000"/>
              </a:srgbClr>
            </a:outerShdw>
          </a:effectLst>
        </p:spPr>
        <p:txBody>
          <a:bodyPr/>
          <a:lstStyle/>
          <a:p>
            <a:endParaRPr lang="en-SS"/>
          </a:p>
        </p:txBody>
      </p:sp>
      <p:pic>
        <p:nvPicPr>
          <p:cNvPr id="4" name="A counter that keeps the queue moving screenshot" descr="A counter that keeps the queue moving screenshot"/>
          <p:cNvPicPr>
            <a:picLocks noChangeAspect="1"/>
          </p:cNvPicPr>
          <p:nvPr/>
        </p:nvPicPr>
        <p:blipFill>
          <a:blip r:embed="rId3"/>
          <a:stretch>
            <a:fillRect/>
          </a:stretch>
        </p:blipFill>
        <p:spPr>
          <a:xfrm>
            <a:off x="3327400" y="1663700"/>
            <a:ext cx="8255000" cy="3487420"/>
          </a:xfrm>
          <a:prstGeom prst="rect">
            <a:avLst/>
          </a:prstGeom>
        </p:spPr>
      </p:pic>
      <p:sp>
        <p:nvSpPr>
          <p:cNvPr id="5" name="LuScanBarcode circle"/>
          <p:cNvSpPr/>
          <p:nvPr/>
        </p:nvSpPr>
        <p:spPr>
          <a:xfrm>
            <a:off x="546100" y="1422400"/>
            <a:ext cx="406400" cy="406400"/>
          </a:xfrm>
          <a:prstGeom prst="ellipse">
            <a:avLst/>
          </a:prstGeom>
          <a:solidFill>
            <a:srgbClr val="EEF4FF"/>
          </a:solidFill>
          <a:ln/>
        </p:spPr>
        <p:txBody>
          <a:bodyPr/>
          <a:lstStyle/>
          <a:p>
            <a:endParaRPr lang="en-SS"/>
          </a:p>
        </p:txBody>
      </p:sp>
      <p:pic>
        <p:nvPicPr>
          <p:cNvPr id="6" name="LuScanBarcode" descr="preencoded.png"/>
          <p:cNvPicPr>
            <a:picLocks noChangeAspect="1"/>
          </p:cNvPicPr>
          <p:nvPr/>
        </p:nvPicPr>
        <p:blipFill>
          <a:blip r:embed="rId4">
            <a:duotone>
              <a:srgbClr val="0058F5"/>
              <a:srgbClr val="0058F5"/>
            </a:duotone>
          </a:blip>
          <a:stretch>
            <a:fillRect/>
          </a:stretch>
        </p:blipFill>
        <p:spPr>
          <a:xfrm>
            <a:off x="635000" y="1511300"/>
            <a:ext cx="228600" cy="228600"/>
          </a:xfrm>
          <a:prstGeom prst="rect">
            <a:avLst/>
          </a:prstGeom>
        </p:spPr>
      </p:pic>
      <p:sp>
        <p:nvSpPr>
          <p:cNvPr id="7" name="Text 3"/>
          <p:cNvSpPr txBox="1"/>
          <p:nvPr/>
        </p:nvSpPr>
        <p:spPr>
          <a:xfrm>
            <a:off x="546100" y="1854200"/>
            <a:ext cx="2159000" cy="872034"/>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Search or scan</a:t>
            </a:r>
            <a:endParaRPr lang="en-US" sz="1600" dirty="0"/>
          </a:p>
          <a:p>
            <a:pPr marL="0" indent="0">
              <a:spcAft>
                <a:spcPts val="200"/>
              </a:spcAft>
              <a:buNone/>
            </a:pPr>
            <a:r>
              <a:rPr lang="en-US" sz="1300" dirty="0">
                <a:solidFill>
                  <a:schemeClr val="tx1"/>
                </a:solidFill>
              </a:rPr>
              <a:t>By brand, generic name or barcode, with stock left shown as you sell.</a:t>
            </a:r>
            <a:endParaRPr lang="en-US" sz="1600" dirty="0"/>
          </a:p>
        </p:txBody>
      </p:sp>
      <p:sp>
        <p:nvSpPr>
          <p:cNvPr id="8" name="LuWallet circle"/>
          <p:cNvSpPr/>
          <p:nvPr/>
        </p:nvSpPr>
        <p:spPr>
          <a:xfrm>
            <a:off x="546100" y="3043783"/>
            <a:ext cx="406400" cy="406400"/>
          </a:xfrm>
          <a:prstGeom prst="ellipse">
            <a:avLst/>
          </a:prstGeom>
          <a:solidFill>
            <a:srgbClr val="EEF4FF"/>
          </a:solidFill>
          <a:ln/>
        </p:spPr>
        <p:txBody>
          <a:bodyPr/>
          <a:lstStyle/>
          <a:p>
            <a:endParaRPr lang="en-SS"/>
          </a:p>
        </p:txBody>
      </p:sp>
      <p:pic>
        <p:nvPicPr>
          <p:cNvPr id="9" name="LuWallet" descr="preencoded.png"/>
          <p:cNvPicPr>
            <a:picLocks noChangeAspect="1"/>
          </p:cNvPicPr>
          <p:nvPr/>
        </p:nvPicPr>
        <p:blipFill>
          <a:blip r:embed="rId5">
            <a:duotone>
              <a:srgbClr val="0058F5"/>
              <a:srgbClr val="0058F5"/>
            </a:duotone>
          </a:blip>
          <a:stretch>
            <a:fillRect/>
          </a:stretch>
        </p:blipFill>
        <p:spPr>
          <a:xfrm>
            <a:off x="635000" y="3132683"/>
            <a:ext cx="228600" cy="228600"/>
          </a:xfrm>
          <a:prstGeom prst="rect">
            <a:avLst/>
          </a:prstGeom>
        </p:spPr>
      </p:pic>
      <p:sp>
        <p:nvSpPr>
          <p:cNvPr id="10" name="Text 5"/>
          <p:cNvSpPr txBox="1"/>
          <p:nvPr/>
        </p:nvSpPr>
        <p:spPr>
          <a:xfrm>
            <a:off x="546100" y="3475583"/>
            <a:ext cx="2159000" cy="872034"/>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Order, pay, dispense</a:t>
            </a:r>
            <a:endParaRPr lang="en-US" sz="1600" dirty="0"/>
          </a:p>
          <a:p>
            <a:pPr marL="0" indent="0">
              <a:spcAft>
                <a:spcPts val="200"/>
              </a:spcAft>
              <a:buNone/>
            </a:pPr>
            <a:r>
              <a:rPr lang="en-US" sz="1300" dirty="0">
                <a:solidFill>
                  <a:schemeClr val="tx1"/>
                </a:solidFill>
              </a:rPr>
              <a:t>Take the order at the counter; it is paid and handed over from the order queue.</a:t>
            </a:r>
            <a:endParaRPr lang="en-US" sz="1600" dirty="0"/>
          </a:p>
        </p:txBody>
      </p:sp>
      <p:sp>
        <p:nvSpPr>
          <p:cNvPr id="11" name="LuUsers circle"/>
          <p:cNvSpPr/>
          <p:nvPr/>
        </p:nvSpPr>
        <p:spPr>
          <a:xfrm>
            <a:off x="546100" y="4665166"/>
            <a:ext cx="406400" cy="406400"/>
          </a:xfrm>
          <a:prstGeom prst="ellipse">
            <a:avLst/>
          </a:prstGeom>
          <a:solidFill>
            <a:srgbClr val="EEF4FF"/>
          </a:solidFill>
          <a:ln/>
        </p:spPr>
        <p:txBody>
          <a:bodyPr/>
          <a:lstStyle/>
          <a:p>
            <a:endParaRPr lang="en-SS"/>
          </a:p>
        </p:txBody>
      </p:sp>
      <p:pic>
        <p:nvPicPr>
          <p:cNvPr id="12" name="LuUsers" descr="preencoded.png"/>
          <p:cNvPicPr>
            <a:picLocks noChangeAspect="1"/>
          </p:cNvPicPr>
          <p:nvPr/>
        </p:nvPicPr>
        <p:blipFill>
          <a:blip r:embed="rId6">
            <a:duotone>
              <a:srgbClr val="0058F5"/>
              <a:srgbClr val="0058F5"/>
            </a:duotone>
          </a:blip>
          <a:stretch>
            <a:fillRect/>
          </a:stretch>
        </p:blipFill>
        <p:spPr>
          <a:xfrm>
            <a:off x="635000" y="4754066"/>
            <a:ext cx="228600" cy="228600"/>
          </a:xfrm>
          <a:prstGeom prst="rect">
            <a:avLst/>
          </a:prstGeom>
        </p:spPr>
      </p:pic>
      <p:sp>
        <p:nvSpPr>
          <p:cNvPr id="13" name="Text 7"/>
          <p:cNvSpPr txBox="1"/>
          <p:nvPr/>
        </p:nvSpPr>
        <p:spPr>
          <a:xfrm>
            <a:off x="546100" y="5096966"/>
            <a:ext cx="2159000" cy="872034"/>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Walk-in or registered</a:t>
            </a:r>
            <a:endParaRPr lang="en-US" sz="1600" dirty="0"/>
          </a:p>
          <a:p>
            <a:pPr marL="0" indent="0">
              <a:spcAft>
                <a:spcPts val="200"/>
              </a:spcAft>
              <a:buNone/>
            </a:pPr>
            <a:r>
              <a:rPr lang="en-US" sz="1300" dirty="0">
                <a:solidFill>
                  <a:schemeClr val="tx1"/>
                </a:solidFill>
              </a:rPr>
              <a:t>Sell to a walk-in, a named customer or a registered account.</a:t>
            </a:r>
            <a:endParaRPr lang="en-US" sz="1600" dirty="0"/>
          </a:p>
        </p:txBody>
      </p:sp>
      <p:sp>
        <p:nvSpPr>
          <p:cNvPr id="14" name="Text 8"/>
          <p:cNvSpPr txBox="1"/>
          <p:nvPr/>
        </p:nvSpPr>
        <p:spPr>
          <a:xfrm>
            <a:off x="3263900" y="5410200"/>
            <a:ext cx="8382000" cy="457200"/>
          </a:xfrm>
          <a:prstGeom prst="rect">
            <a:avLst/>
          </a:prstGeom>
          <a:noFill/>
          <a:ln/>
        </p:spPr>
        <p:txBody>
          <a:bodyPr wrap="square" lIns="0" tIns="0" rIns="0" bIns="0" rtlCol="0" anchor="ctr"/>
          <a:lstStyle/>
          <a:p>
            <a:pPr marL="0" indent="0">
              <a:buNone/>
            </a:pPr>
            <a:r>
              <a:rPr lang="en-US" sz="1400" i="1" dirty="0">
                <a:solidFill>
                  <a:schemeClr val="accent4"/>
                </a:solidFill>
              </a:rPr>
              <a:t>Approved discounts, cash, mobile money or card, and an 80 mm receipt.</a:t>
            </a:r>
            <a:endParaRPr lang="en-US" sz="1400" dirty="0"/>
          </a:p>
        </p:txBody>
      </p:sp>
    </p:spTree>
    <p:extLst>
      <p:ext uri="{BB962C8B-B14F-4D97-AF65-F5344CB8AC3E}">
        <p14:creationId xmlns:p14="http://schemas.microsoft.com/office/powerpoint/2010/main" val="1705180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5" name="Screenshot backdrop">
            <a:extLst>
              <a:ext uri="{FF2B5EF4-FFF2-40B4-BE49-F238E27FC236}">
                <a16:creationId xmlns:a16="http://schemas.microsoft.com/office/drawing/2014/main" id="{B6D7748B-EE8D-49E8-A689-1679DF7694D4}"/>
              </a:ext>
            </a:extLst>
          </p:cNvPr>
          <p:cNvSpPr/>
          <p:nvPr/>
        </p:nvSpPr>
        <p:spPr>
          <a:xfrm>
            <a:off x="0" y="1320800"/>
            <a:ext cx="9334500" cy="4876800"/>
          </a:xfrm>
          <a:prstGeom prst="rect">
            <a:avLst/>
          </a:prstGeom>
          <a:solidFill>
            <a:srgbClr val="EEF4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SS"/>
          </a:p>
        </p:txBody>
      </p:sp>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Stock and expiry, branch by branch</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6</a:t>
            </a:fld>
            <a:endParaRPr lang="en-US"/>
          </a:p>
        </p:txBody>
      </p:sp>
      <p:sp>
        <p:nvSpPr>
          <p:cNvPr id="3" name="Stock and expiry, branch by branch screenshot frame"/>
          <p:cNvSpPr/>
          <p:nvPr/>
        </p:nvSpPr>
        <p:spPr>
          <a:xfrm>
            <a:off x="546100" y="1600200"/>
            <a:ext cx="8636000" cy="3721212"/>
          </a:xfrm>
          <a:prstGeom prst="roundRect">
            <a:avLst>
              <a:gd name="adj" fmla="val 2181"/>
            </a:avLst>
          </a:prstGeom>
          <a:solidFill>
            <a:schemeClr val="bg1"/>
          </a:solidFill>
          <a:ln w="12700">
            <a:solidFill>
              <a:schemeClr val="accent5"/>
            </a:solidFill>
            <a:prstDash val="solid"/>
          </a:ln>
          <a:effectLst>
            <a:outerShdw blurRad="152400" dist="50800" dir="5400000" algn="bl" rotWithShape="0">
              <a:srgbClr val="0A2260">
                <a:alpha val="18000"/>
              </a:srgbClr>
            </a:outerShdw>
          </a:effectLst>
        </p:spPr>
        <p:txBody>
          <a:bodyPr/>
          <a:lstStyle/>
          <a:p>
            <a:endParaRPr lang="en-SS"/>
          </a:p>
        </p:txBody>
      </p:sp>
      <p:pic>
        <p:nvPicPr>
          <p:cNvPr id="4" name="Stock and expiry, branch by branch screenshot" descr="Stock and expiry, branch by branch screenshot"/>
          <p:cNvPicPr>
            <a:picLocks noChangeAspect="1"/>
          </p:cNvPicPr>
          <p:nvPr/>
        </p:nvPicPr>
        <p:blipFill>
          <a:blip r:embed="rId3"/>
          <a:stretch>
            <a:fillRect/>
          </a:stretch>
        </p:blipFill>
        <p:spPr>
          <a:xfrm>
            <a:off x="609600" y="1663700"/>
            <a:ext cx="8509000" cy="3594212"/>
          </a:xfrm>
          <a:prstGeom prst="rect">
            <a:avLst/>
          </a:prstGeom>
        </p:spPr>
      </p:pic>
      <p:sp>
        <p:nvSpPr>
          <p:cNvPr id="5" name="LuLayoutDashboard circle"/>
          <p:cNvSpPr/>
          <p:nvPr/>
        </p:nvSpPr>
        <p:spPr>
          <a:xfrm>
            <a:off x="9550400" y="1371600"/>
            <a:ext cx="406400" cy="406400"/>
          </a:xfrm>
          <a:prstGeom prst="ellipse">
            <a:avLst/>
          </a:prstGeom>
          <a:solidFill>
            <a:srgbClr val="EEF4FF"/>
          </a:solidFill>
          <a:ln/>
        </p:spPr>
        <p:txBody>
          <a:bodyPr/>
          <a:lstStyle/>
          <a:p>
            <a:endParaRPr lang="en-SS"/>
          </a:p>
        </p:txBody>
      </p:sp>
      <p:pic>
        <p:nvPicPr>
          <p:cNvPr id="6" name="LuLayoutDashboard" descr="preencoded.png"/>
          <p:cNvPicPr>
            <a:picLocks noChangeAspect="1"/>
          </p:cNvPicPr>
          <p:nvPr/>
        </p:nvPicPr>
        <p:blipFill>
          <a:blip r:embed="rId4">
            <a:duotone>
              <a:srgbClr val="0058F5"/>
              <a:srgbClr val="0058F5"/>
            </a:duotone>
          </a:blip>
          <a:stretch>
            <a:fillRect/>
          </a:stretch>
        </p:blipFill>
        <p:spPr>
          <a:xfrm>
            <a:off x="9639300" y="1460500"/>
            <a:ext cx="228600" cy="228600"/>
          </a:xfrm>
          <a:prstGeom prst="rect">
            <a:avLst/>
          </a:prstGeom>
        </p:spPr>
      </p:pic>
      <p:sp>
        <p:nvSpPr>
          <p:cNvPr id="7" name="Text 3"/>
          <p:cNvSpPr txBox="1"/>
          <p:nvPr/>
        </p:nvSpPr>
        <p:spPr>
          <a:xfrm>
            <a:off x="9461500" y="1803400"/>
            <a:ext cx="2184400" cy="671979"/>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One view of the shelf</a:t>
            </a:r>
            <a:endParaRPr lang="en-US" sz="1600" dirty="0"/>
          </a:p>
          <a:p>
            <a:pPr marL="0" indent="0">
              <a:spcAft>
                <a:spcPts val="200"/>
              </a:spcAft>
              <a:buNone/>
            </a:pPr>
            <a:r>
              <a:rPr lang="en-US" sz="1300" dirty="0">
                <a:solidFill>
                  <a:schemeClr val="tx1"/>
                </a:solidFill>
              </a:rPr>
              <a:t>Sellable stock and the next expiry date for every medicine.</a:t>
            </a:r>
            <a:endParaRPr lang="en-US" sz="1600" dirty="0"/>
          </a:p>
        </p:txBody>
      </p:sp>
      <p:sp>
        <p:nvSpPr>
          <p:cNvPr id="8" name="LuCalendarX circle"/>
          <p:cNvSpPr/>
          <p:nvPr/>
        </p:nvSpPr>
        <p:spPr>
          <a:xfrm>
            <a:off x="9550400" y="2856379"/>
            <a:ext cx="406400" cy="406400"/>
          </a:xfrm>
          <a:prstGeom prst="ellipse">
            <a:avLst/>
          </a:prstGeom>
          <a:solidFill>
            <a:srgbClr val="EEF4FF"/>
          </a:solidFill>
          <a:ln/>
        </p:spPr>
        <p:txBody>
          <a:bodyPr/>
          <a:lstStyle/>
          <a:p>
            <a:endParaRPr lang="en-SS"/>
          </a:p>
        </p:txBody>
      </p:sp>
      <p:pic>
        <p:nvPicPr>
          <p:cNvPr id="9" name="LuCalendarX" descr="preencoded.png"/>
          <p:cNvPicPr>
            <a:picLocks noChangeAspect="1"/>
          </p:cNvPicPr>
          <p:nvPr/>
        </p:nvPicPr>
        <p:blipFill>
          <a:blip r:embed="rId5">
            <a:duotone>
              <a:srgbClr val="0058F5"/>
              <a:srgbClr val="0058F5"/>
            </a:duotone>
          </a:blip>
          <a:stretch>
            <a:fillRect/>
          </a:stretch>
        </p:blipFill>
        <p:spPr>
          <a:xfrm>
            <a:off x="9639300" y="2945279"/>
            <a:ext cx="228600" cy="228600"/>
          </a:xfrm>
          <a:prstGeom prst="rect">
            <a:avLst/>
          </a:prstGeom>
        </p:spPr>
      </p:pic>
      <p:sp>
        <p:nvSpPr>
          <p:cNvPr id="10" name="Text 5"/>
          <p:cNvSpPr txBox="1"/>
          <p:nvPr/>
        </p:nvSpPr>
        <p:spPr>
          <a:xfrm>
            <a:off x="9461500" y="3288179"/>
            <a:ext cx="2184400" cy="872034"/>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Filters that matter</a:t>
            </a:r>
            <a:endParaRPr lang="en-US" sz="1600" dirty="0"/>
          </a:p>
          <a:p>
            <a:pPr marL="0" indent="0">
              <a:spcAft>
                <a:spcPts val="200"/>
              </a:spcAft>
              <a:buNone/>
            </a:pPr>
            <a:r>
              <a:rPr lang="en-US" sz="1300" dirty="0">
                <a:solidFill>
                  <a:schemeClr val="tx1"/>
                </a:solidFill>
              </a:rPr>
              <a:t>Low stock, expiring soon, expired and on hold, one click away.</a:t>
            </a:r>
            <a:endParaRPr lang="en-US" sz="1600" dirty="0"/>
          </a:p>
        </p:txBody>
      </p:sp>
      <p:sp>
        <p:nvSpPr>
          <p:cNvPr id="11" name="LuShieldAlert circle"/>
          <p:cNvSpPr/>
          <p:nvPr/>
        </p:nvSpPr>
        <p:spPr>
          <a:xfrm>
            <a:off x="9550400" y="4541213"/>
            <a:ext cx="406400" cy="406400"/>
          </a:xfrm>
          <a:prstGeom prst="ellipse">
            <a:avLst/>
          </a:prstGeom>
          <a:solidFill>
            <a:srgbClr val="EEF4FF"/>
          </a:solidFill>
          <a:ln/>
        </p:spPr>
        <p:txBody>
          <a:bodyPr/>
          <a:lstStyle/>
          <a:p>
            <a:endParaRPr lang="en-SS"/>
          </a:p>
        </p:txBody>
      </p:sp>
      <p:pic>
        <p:nvPicPr>
          <p:cNvPr id="12" name="LuShieldAlert" descr="preencoded.png"/>
          <p:cNvPicPr>
            <a:picLocks noChangeAspect="1"/>
          </p:cNvPicPr>
          <p:nvPr/>
        </p:nvPicPr>
        <p:blipFill>
          <a:blip r:embed="rId6">
            <a:duotone>
              <a:srgbClr val="0058F5"/>
              <a:srgbClr val="0058F5"/>
            </a:duotone>
          </a:blip>
          <a:stretch>
            <a:fillRect/>
          </a:stretch>
        </p:blipFill>
        <p:spPr>
          <a:xfrm>
            <a:off x="9639300" y="4630113"/>
            <a:ext cx="228600" cy="228600"/>
          </a:xfrm>
          <a:prstGeom prst="rect">
            <a:avLst/>
          </a:prstGeom>
        </p:spPr>
      </p:pic>
      <p:sp>
        <p:nvSpPr>
          <p:cNvPr id="13" name="Text 7"/>
          <p:cNvSpPr txBox="1"/>
          <p:nvPr/>
        </p:nvSpPr>
        <p:spPr>
          <a:xfrm>
            <a:off x="9461500" y="4973013"/>
            <a:ext cx="2184400" cy="671979"/>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Reorder levels</a:t>
            </a:r>
            <a:endParaRPr lang="en-US" sz="1600" dirty="0"/>
          </a:p>
          <a:p>
            <a:pPr marL="0" indent="0">
              <a:spcAft>
                <a:spcPts val="200"/>
              </a:spcAft>
              <a:buNone/>
            </a:pPr>
            <a:r>
              <a:rPr lang="en-US" sz="1300" dirty="0">
                <a:solidFill>
                  <a:schemeClr val="tx1"/>
                </a:solidFill>
              </a:rPr>
              <a:t>Medicines at or below their reorder level are flagged.</a:t>
            </a:r>
            <a:endParaRPr lang="en-US" sz="1600" dirty="0"/>
          </a:p>
        </p:txBody>
      </p:sp>
      <p:sp>
        <p:nvSpPr>
          <p:cNvPr id="14" name="Text 8"/>
          <p:cNvSpPr txBox="1"/>
          <p:nvPr/>
        </p:nvSpPr>
        <p:spPr>
          <a:xfrm>
            <a:off x="546100" y="5486400"/>
            <a:ext cx="8636000" cy="457200"/>
          </a:xfrm>
          <a:prstGeom prst="rect">
            <a:avLst/>
          </a:prstGeom>
          <a:noFill/>
          <a:ln/>
        </p:spPr>
        <p:txBody>
          <a:bodyPr wrap="square" lIns="0" tIns="0" rIns="0" bIns="0" rtlCol="0" anchor="ctr"/>
          <a:lstStyle/>
          <a:p>
            <a:pPr marL="0" indent="0">
              <a:buNone/>
            </a:pPr>
            <a:r>
              <a:rPr lang="en-US" sz="1400" i="1" dirty="0">
                <a:solidFill>
                  <a:schemeClr val="accent4"/>
                </a:solidFill>
              </a:rPr>
              <a:t>Each branch keeps its own stock and locations, with transfers between branches.</a:t>
            </a:r>
            <a:endParaRPr lang="en-US" sz="1400" dirty="0"/>
          </a:p>
        </p:txBody>
      </p:sp>
    </p:spTree>
    <p:extLst>
      <p:ext uri="{BB962C8B-B14F-4D97-AF65-F5344CB8AC3E}">
        <p14:creationId xmlns:p14="http://schemas.microsoft.com/office/powerpoint/2010/main" val="3543758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5" name="Screenshot backdrop">
            <a:extLst>
              <a:ext uri="{FF2B5EF4-FFF2-40B4-BE49-F238E27FC236}">
                <a16:creationId xmlns:a16="http://schemas.microsoft.com/office/drawing/2014/main" id="{EAF10007-210F-455A-B6ED-A5F2C4FA0EE7}"/>
              </a:ext>
            </a:extLst>
          </p:cNvPr>
          <p:cNvSpPr/>
          <p:nvPr/>
        </p:nvSpPr>
        <p:spPr>
          <a:xfrm>
            <a:off x="3111500" y="1320800"/>
            <a:ext cx="9080500" cy="4876800"/>
          </a:xfrm>
          <a:prstGeom prst="rect">
            <a:avLst/>
          </a:prstGeom>
          <a:solidFill>
            <a:srgbClr val="EEF4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SS"/>
          </a:p>
        </p:txBody>
      </p:sp>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Every batch traced, held back or disposed of</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7</a:t>
            </a:fld>
            <a:endParaRPr lang="en-US"/>
          </a:p>
        </p:txBody>
      </p:sp>
      <p:sp>
        <p:nvSpPr>
          <p:cNvPr id="3" name="Every batch traced, held back or disposed of screenshot frame"/>
          <p:cNvSpPr/>
          <p:nvPr/>
        </p:nvSpPr>
        <p:spPr>
          <a:xfrm>
            <a:off x="3263900" y="1600200"/>
            <a:ext cx="8382000" cy="3614420"/>
          </a:xfrm>
          <a:prstGeom prst="roundRect">
            <a:avLst>
              <a:gd name="adj" fmla="val 2181"/>
            </a:avLst>
          </a:prstGeom>
          <a:solidFill>
            <a:schemeClr val="bg1"/>
          </a:solidFill>
          <a:ln w="12700">
            <a:solidFill>
              <a:schemeClr val="accent5"/>
            </a:solidFill>
            <a:prstDash val="solid"/>
          </a:ln>
          <a:effectLst>
            <a:outerShdw blurRad="152400" dist="50800" dir="5400000" algn="bl" rotWithShape="0">
              <a:srgbClr val="0A2260">
                <a:alpha val="18000"/>
              </a:srgbClr>
            </a:outerShdw>
          </a:effectLst>
        </p:spPr>
        <p:txBody>
          <a:bodyPr/>
          <a:lstStyle/>
          <a:p>
            <a:endParaRPr lang="en-SS"/>
          </a:p>
        </p:txBody>
      </p:sp>
      <p:pic>
        <p:nvPicPr>
          <p:cNvPr id="4" name="Every batch traced, held back or disposed of screenshot" descr="Every batch traced, held back or disposed of screenshot"/>
          <p:cNvPicPr>
            <a:picLocks noChangeAspect="1"/>
          </p:cNvPicPr>
          <p:nvPr/>
        </p:nvPicPr>
        <p:blipFill>
          <a:blip r:embed="rId3"/>
          <a:stretch>
            <a:fillRect/>
          </a:stretch>
        </p:blipFill>
        <p:spPr>
          <a:xfrm>
            <a:off x="3327400" y="1663700"/>
            <a:ext cx="8255000" cy="3487420"/>
          </a:xfrm>
          <a:prstGeom prst="rect">
            <a:avLst/>
          </a:prstGeom>
        </p:spPr>
      </p:pic>
      <p:sp>
        <p:nvSpPr>
          <p:cNvPr id="5" name="LuPackageCheck circle"/>
          <p:cNvSpPr/>
          <p:nvPr/>
        </p:nvSpPr>
        <p:spPr>
          <a:xfrm>
            <a:off x="546100" y="1422400"/>
            <a:ext cx="406400" cy="406400"/>
          </a:xfrm>
          <a:prstGeom prst="ellipse">
            <a:avLst/>
          </a:prstGeom>
          <a:solidFill>
            <a:srgbClr val="EEF4FF"/>
          </a:solidFill>
          <a:ln/>
        </p:spPr>
        <p:txBody>
          <a:bodyPr/>
          <a:lstStyle/>
          <a:p>
            <a:endParaRPr lang="en-SS"/>
          </a:p>
        </p:txBody>
      </p:sp>
      <p:pic>
        <p:nvPicPr>
          <p:cNvPr id="6" name="LuPackageCheck" descr="preencoded.png"/>
          <p:cNvPicPr>
            <a:picLocks noChangeAspect="1"/>
          </p:cNvPicPr>
          <p:nvPr/>
        </p:nvPicPr>
        <p:blipFill>
          <a:blip r:embed="rId4">
            <a:duotone>
              <a:srgbClr val="0058F5"/>
              <a:srgbClr val="0058F5"/>
            </a:duotone>
          </a:blip>
          <a:stretch>
            <a:fillRect/>
          </a:stretch>
        </p:blipFill>
        <p:spPr>
          <a:xfrm>
            <a:off x="635000" y="1511300"/>
            <a:ext cx="228600" cy="228600"/>
          </a:xfrm>
          <a:prstGeom prst="rect">
            <a:avLst/>
          </a:prstGeom>
        </p:spPr>
      </p:pic>
      <p:sp>
        <p:nvSpPr>
          <p:cNvPr id="7" name="Text 3"/>
          <p:cNvSpPr txBox="1"/>
          <p:nvPr/>
        </p:nvSpPr>
        <p:spPr>
          <a:xfrm>
            <a:off x="546100" y="1854200"/>
            <a:ext cx="2159000" cy="872034"/>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Batch, expiry and cost</a:t>
            </a:r>
            <a:endParaRPr lang="en-US" sz="1600" dirty="0"/>
          </a:p>
          <a:p>
            <a:pPr marL="0" indent="0">
              <a:spcAft>
                <a:spcPts val="200"/>
              </a:spcAft>
              <a:buNone/>
            </a:pPr>
            <a:r>
              <a:rPr lang="en-US" sz="1300" dirty="0">
                <a:solidFill>
                  <a:schemeClr val="tx1"/>
                </a:solidFill>
              </a:rPr>
              <a:t>Each batch has its number, expiry date, quantity and unit cost.</a:t>
            </a:r>
            <a:endParaRPr lang="en-US" sz="1600" dirty="0"/>
          </a:p>
        </p:txBody>
      </p:sp>
      <p:sp>
        <p:nvSpPr>
          <p:cNvPr id="8" name="LuShieldAlert circle"/>
          <p:cNvSpPr/>
          <p:nvPr/>
        </p:nvSpPr>
        <p:spPr>
          <a:xfrm>
            <a:off x="546100" y="2917444"/>
            <a:ext cx="406400" cy="406400"/>
          </a:xfrm>
          <a:prstGeom prst="ellipse">
            <a:avLst/>
          </a:prstGeom>
          <a:solidFill>
            <a:srgbClr val="EEF4FF"/>
          </a:solidFill>
          <a:ln/>
        </p:spPr>
        <p:txBody>
          <a:bodyPr/>
          <a:lstStyle/>
          <a:p>
            <a:endParaRPr lang="en-SS"/>
          </a:p>
        </p:txBody>
      </p:sp>
      <p:pic>
        <p:nvPicPr>
          <p:cNvPr id="9" name="LuShieldAlert" descr="preencoded.png"/>
          <p:cNvPicPr>
            <a:picLocks noChangeAspect="1"/>
          </p:cNvPicPr>
          <p:nvPr/>
        </p:nvPicPr>
        <p:blipFill>
          <a:blip r:embed="rId5">
            <a:duotone>
              <a:srgbClr val="0058F5"/>
              <a:srgbClr val="0058F5"/>
            </a:duotone>
          </a:blip>
          <a:stretch>
            <a:fillRect/>
          </a:stretch>
        </p:blipFill>
        <p:spPr>
          <a:xfrm>
            <a:off x="635000" y="3006344"/>
            <a:ext cx="228600" cy="228600"/>
          </a:xfrm>
          <a:prstGeom prst="rect">
            <a:avLst/>
          </a:prstGeom>
        </p:spPr>
      </p:pic>
      <p:sp>
        <p:nvSpPr>
          <p:cNvPr id="10" name="Text 5"/>
          <p:cNvSpPr txBox="1"/>
          <p:nvPr/>
        </p:nvSpPr>
        <p:spPr>
          <a:xfrm>
            <a:off x="546100" y="3349244"/>
            <a:ext cx="2159000" cy="872034"/>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Quarantine and recall</a:t>
            </a:r>
            <a:endParaRPr lang="en-US" sz="1600" dirty="0"/>
          </a:p>
          <a:p>
            <a:pPr marL="0" indent="0">
              <a:spcAft>
                <a:spcPts val="200"/>
              </a:spcAft>
              <a:buNone/>
            </a:pPr>
            <a:r>
              <a:rPr lang="en-US" sz="1300" dirty="0">
                <a:solidFill>
                  <a:schemeClr val="tx1"/>
                </a:solidFill>
              </a:rPr>
              <a:t>Hold a batch back from sale in one step, with the reason recorded.</a:t>
            </a:r>
            <a:endParaRPr lang="en-US" sz="1600" dirty="0"/>
          </a:p>
        </p:txBody>
      </p:sp>
      <p:sp>
        <p:nvSpPr>
          <p:cNvPr id="11" name="LuUsers circle"/>
          <p:cNvSpPr/>
          <p:nvPr/>
        </p:nvSpPr>
        <p:spPr>
          <a:xfrm>
            <a:off x="546100" y="4412488"/>
            <a:ext cx="406400" cy="406400"/>
          </a:xfrm>
          <a:prstGeom prst="ellipse">
            <a:avLst/>
          </a:prstGeom>
          <a:solidFill>
            <a:srgbClr val="EEF4FF"/>
          </a:solidFill>
          <a:ln/>
        </p:spPr>
        <p:txBody>
          <a:bodyPr/>
          <a:lstStyle/>
          <a:p>
            <a:endParaRPr lang="en-SS"/>
          </a:p>
        </p:txBody>
      </p:sp>
      <p:pic>
        <p:nvPicPr>
          <p:cNvPr id="12" name="LuUsers" descr="preencoded.png"/>
          <p:cNvPicPr>
            <a:picLocks noChangeAspect="1"/>
          </p:cNvPicPr>
          <p:nvPr/>
        </p:nvPicPr>
        <p:blipFill>
          <a:blip r:embed="rId6">
            <a:duotone>
              <a:srgbClr val="0058F5"/>
              <a:srgbClr val="0058F5"/>
            </a:duotone>
          </a:blip>
          <a:stretch>
            <a:fillRect/>
          </a:stretch>
        </p:blipFill>
        <p:spPr>
          <a:xfrm>
            <a:off x="635000" y="4501388"/>
            <a:ext cx="228600" cy="228600"/>
          </a:xfrm>
          <a:prstGeom prst="rect">
            <a:avLst/>
          </a:prstGeom>
        </p:spPr>
      </p:pic>
      <p:sp>
        <p:nvSpPr>
          <p:cNvPr id="13" name="Text 7"/>
          <p:cNvSpPr txBox="1"/>
          <p:nvPr/>
        </p:nvSpPr>
        <p:spPr>
          <a:xfrm>
            <a:off x="546100" y="4844288"/>
            <a:ext cx="2159000" cy="1124712"/>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Two people for disposals</a:t>
            </a:r>
            <a:endParaRPr lang="en-US" sz="1600" dirty="0"/>
          </a:p>
          <a:p>
            <a:pPr marL="0" indent="0">
              <a:spcAft>
                <a:spcPts val="200"/>
              </a:spcAft>
              <a:buNone/>
            </a:pPr>
            <a:r>
              <a:rPr lang="en-US" sz="1300" dirty="0">
                <a:solidFill>
                  <a:schemeClr val="tx1"/>
                </a:solidFill>
              </a:rPr>
              <a:t>Damaged or expired stock is destroyed only after someone else approves.</a:t>
            </a:r>
            <a:endParaRPr lang="en-US" sz="1600" dirty="0"/>
          </a:p>
        </p:txBody>
      </p:sp>
      <p:sp>
        <p:nvSpPr>
          <p:cNvPr id="14" name="Text 8"/>
          <p:cNvSpPr txBox="1"/>
          <p:nvPr/>
        </p:nvSpPr>
        <p:spPr>
          <a:xfrm>
            <a:off x="3263900" y="5410200"/>
            <a:ext cx="8382000" cy="457200"/>
          </a:xfrm>
          <a:prstGeom prst="rect">
            <a:avLst/>
          </a:prstGeom>
          <a:noFill/>
          <a:ln/>
        </p:spPr>
        <p:txBody>
          <a:bodyPr wrap="square" lIns="0" tIns="0" rIns="0" bIns="0" rtlCol="0" anchor="ctr"/>
          <a:lstStyle/>
          <a:p>
            <a:pPr marL="0" indent="0">
              <a:buNone/>
            </a:pPr>
            <a:r>
              <a:rPr lang="en-US" sz="1400" i="1" dirty="0">
                <a:solidFill>
                  <a:schemeClr val="accent4"/>
                </a:solidFill>
              </a:rPr>
              <a:t>Corrections are recorded with a reason; stock history is never edited.</a:t>
            </a:r>
            <a:endParaRPr lang="en-US" sz="1400" dirty="0"/>
          </a:p>
        </p:txBody>
      </p:sp>
    </p:spTree>
    <p:extLst>
      <p:ext uri="{BB962C8B-B14F-4D97-AF65-F5344CB8AC3E}">
        <p14:creationId xmlns:p14="http://schemas.microsoft.com/office/powerpoint/2010/main" val="641094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15" name="Screenshot backdrop">
            <a:extLst>
              <a:ext uri="{FF2B5EF4-FFF2-40B4-BE49-F238E27FC236}">
                <a16:creationId xmlns:a16="http://schemas.microsoft.com/office/drawing/2014/main" id="{3B47BF89-BBD6-49DF-B49E-01AA767614F4}"/>
              </a:ext>
            </a:extLst>
          </p:cNvPr>
          <p:cNvSpPr/>
          <p:nvPr/>
        </p:nvSpPr>
        <p:spPr>
          <a:xfrm>
            <a:off x="0" y="1320800"/>
            <a:ext cx="9334500" cy="4876800"/>
          </a:xfrm>
          <a:prstGeom prst="rect">
            <a:avLst/>
          </a:prstGeom>
          <a:solidFill>
            <a:srgbClr val="EEF4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SS"/>
          </a:p>
        </p:txBody>
      </p:sp>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Know what you earn, not just what you sell</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8</a:t>
            </a:fld>
            <a:endParaRPr lang="en-US"/>
          </a:p>
        </p:txBody>
      </p:sp>
      <p:sp>
        <p:nvSpPr>
          <p:cNvPr id="3" name="Know what you earn, not just what you sell screenshot frame"/>
          <p:cNvSpPr/>
          <p:nvPr/>
        </p:nvSpPr>
        <p:spPr>
          <a:xfrm>
            <a:off x="546100" y="1600200"/>
            <a:ext cx="8636000" cy="3721212"/>
          </a:xfrm>
          <a:prstGeom prst="roundRect">
            <a:avLst>
              <a:gd name="adj" fmla="val 2181"/>
            </a:avLst>
          </a:prstGeom>
          <a:solidFill>
            <a:schemeClr val="bg1"/>
          </a:solidFill>
          <a:ln w="12700">
            <a:solidFill>
              <a:schemeClr val="accent5"/>
            </a:solidFill>
            <a:prstDash val="solid"/>
          </a:ln>
          <a:effectLst>
            <a:outerShdw blurRad="152400" dist="50800" dir="5400000" algn="bl" rotWithShape="0">
              <a:srgbClr val="0A2260">
                <a:alpha val="18000"/>
              </a:srgbClr>
            </a:outerShdw>
          </a:effectLst>
        </p:spPr>
        <p:txBody>
          <a:bodyPr/>
          <a:lstStyle/>
          <a:p>
            <a:endParaRPr lang="en-SS"/>
          </a:p>
        </p:txBody>
      </p:sp>
      <p:pic>
        <p:nvPicPr>
          <p:cNvPr id="4" name="Know what you earn, not just what you sell screenshot" descr="Know what you earn, not just what you sell screenshot"/>
          <p:cNvPicPr>
            <a:picLocks noChangeAspect="1"/>
          </p:cNvPicPr>
          <p:nvPr/>
        </p:nvPicPr>
        <p:blipFill>
          <a:blip r:embed="rId3"/>
          <a:stretch>
            <a:fillRect/>
          </a:stretch>
        </p:blipFill>
        <p:spPr>
          <a:xfrm>
            <a:off x="609600" y="1663700"/>
            <a:ext cx="8509000" cy="3594212"/>
          </a:xfrm>
          <a:prstGeom prst="rect">
            <a:avLst/>
          </a:prstGeom>
        </p:spPr>
      </p:pic>
      <p:sp>
        <p:nvSpPr>
          <p:cNvPr id="5" name="LuChartColumn circle"/>
          <p:cNvSpPr/>
          <p:nvPr/>
        </p:nvSpPr>
        <p:spPr>
          <a:xfrm>
            <a:off x="9550400" y="1371600"/>
            <a:ext cx="406400" cy="406400"/>
          </a:xfrm>
          <a:prstGeom prst="ellipse">
            <a:avLst/>
          </a:prstGeom>
          <a:solidFill>
            <a:srgbClr val="EEF4FF"/>
          </a:solidFill>
          <a:ln/>
        </p:spPr>
        <p:txBody>
          <a:bodyPr/>
          <a:lstStyle/>
          <a:p>
            <a:endParaRPr lang="en-SS"/>
          </a:p>
        </p:txBody>
      </p:sp>
      <p:pic>
        <p:nvPicPr>
          <p:cNvPr id="6" name="LuChartColumn" descr="preencoded.png"/>
          <p:cNvPicPr>
            <a:picLocks noChangeAspect="1"/>
          </p:cNvPicPr>
          <p:nvPr/>
        </p:nvPicPr>
        <p:blipFill>
          <a:blip r:embed="rId4">
            <a:duotone>
              <a:srgbClr val="0058F5"/>
              <a:srgbClr val="0058F5"/>
            </a:duotone>
          </a:blip>
          <a:stretch>
            <a:fillRect/>
          </a:stretch>
        </p:blipFill>
        <p:spPr>
          <a:xfrm>
            <a:off x="9639300" y="1460500"/>
            <a:ext cx="228600" cy="228600"/>
          </a:xfrm>
          <a:prstGeom prst="rect">
            <a:avLst/>
          </a:prstGeom>
        </p:spPr>
      </p:pic>
      <p:sp>
        <p:nvSpPr>
          <p:cNvPr id="7" name="Text 3"/>
          <p:cNvSpPr txBox="1"/>
          <p:nvPr/>
        </p:nvSpPr>
        <p:spPr>
          <a:xfrm>
            <a:off x="9461500" y="1803400"/>
            <a:ext cx="2184400" cy="671979"/>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Takings and gross profit</a:t>
            </a:r>
            <a:endParaRPr lang="en-US" sz="1600" dirty="0"/>
          </a:p>
          <a:p>
            <a:pPr marL="0" indent="0">
              <a:spcAft>
                <a:spcPts val="200"/>
              </a:spcAft>
              <a:buNone/>
            </a:pPr>
            <a:r>
              <a:rPr lang="en-US" sz="1300" dirty="0">
                <a:solidFill>
                  <a:schemeClr val="tx1"/>
                </a:solidFill>
              </a:rPr>
              <a:t>Sales, cost of goods and margin for any period.</a:t>
            </a:r>
            <a:endParaRPr lang="en-US" sz="1600" dirty="0"/>
          </a:p>
        </p:txBody>
      </p:sp>
      <p:sp>
        <p:nvSpPr>
          <p:cNvPr id="8" name="LuPill circle"/>
          <p:cNvSpPr/>
          <p:nvPr/>
        </p:nvSpPr>
        <p:spPr>
          <a:xfrm>
            <a:off x="9550400" y="2856379"/>
            <a:ext cx="406400" cy="406400"/>
          </a:xfrm>
          <a:prstGeom prst="ellipse">
            <a:avLst/>
          </a:prstGeom>
          <a:solidFill>
            <a:srgbClr val="EEF4FF"/>
          </a:solidFill>
          <a:ln/>
        </p:spPr>
        <p:txBody>
          <a:bodyPr/>
          <a:lstStyle/>
          <a:p>
            <a:endParaRPr lang="en-SS"/>
          </a:p>
        </p:txBody>
      </p:sp>
      <p:pic>
        <p:nvPicPr>
          <p:cNvPr id="9" name="LuPill" descr="preencoded.png"/>
          <p:cNvPicPr>
            <a:picLocks noChangeAspect="1"/>
          </p:cNvPicPr>
          <p:nvPr/>
        </p:nvPicPr>
        <p:blipFill>
          <a:blip r:embed="rId5">
            <a:duotone>
              <a:srgbClr val="0058F5"/>
              <a:srgbClr val="0058F5"/>
            </a:duotone>
          </a:blip>
          <a:stretch>
            <a:fillRect/>
          </a:stretch>
        </p:blipFill>
        <p:spPr>
          <a:xfrm>
            <a:off x="9639300" y="2945279"/>
            <a:ext cx="228600" cy="228600"/>
          </a:xfrm>
          <a:prstGeom prst="rect">
            <a:avLst/>
          </a:prstGeom>
        </p:spPr>
      </p:pic>
      <p:sp>
        <p:nvSpPr>
          <p:cNvPr id="10" name="Text 5"/>
          <p:cNvSpPr txBox="1"/>
          <p:nvPr/>
        </p:nvSpPr>
        <p:spPr>
          <a:xfrm>
            <a:off x="9461500" y="3288179"/>
            <a:ext cx="2184400" cy="671979"/>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Best sellers</a:t>
            </a:r>
            <a:endParaRPr lang="en-US" sz="1600" dirty="0"/>
          </a:p>
          <a:p>
            <a:pPr marL="0" indent="0">
              <a:spcAft>
                <a:spcPts val="200"/>
              </a:spcAft>
              <a:buNone/>
            </a:pPr>
            <a:r>
              <a:rPr lang="en-US" sz="1300" dirty="0">
                <a:solidFill>
                  <a:schemeClr val="tx1"/>
                </a:solidFill>
              </a:rPr>
              <a:t>What sells, how much it brings in and at what margin.</a:t>
            </a:r>
            <a:endParaRPr lang="en-US" sz="1600" dirty="0"/>
          </a:p>
        </p:txBody>
      </p:sp>
      <p:sp>
        <p:nvSpPr>
          <p:cNvPr id="11" name="LuFileText circle"/>
          <p:cNvSpPr/>
          <p:nvPr/>
        </p:nvSpPr>
        <p:spPr>
          <a:xfrm>
            <a:off x="9550400" y="4341158"/>
            <a:ext cx="406400" cy="406400"/>
          </a:xfrm>
          <a:prstGeom prst="ellipse">
            <a:avLst/>
          </a:prstGeom>
          <a:solidFill>
            <a:srgbClr val="EEF4FF"/>
          </a:solidFill>
          <a:ln/>
        </p:spPr>
        <p:txBody>
          <a:bodyPr/>
          <a:lstStyle/>
          <a:p>
            <a:endParaRPr lang="en-SS"/>
          </a:p>
        </p:txBody>
      </p:sp>
      <p:pic>
        <p:nvPicPr>
          <p:cNvPr id="12" name="LuFileText" descr="preencoded.png"/>
          <p:cNvPicPr>
            <a:picLocks noChangeAspect="1"/>
          </p:cNvPicPr>
          <p:nvPr/>
        </p:nvPicPr>
        <p:blipFill>
          <a:blip r:embed="rId6">
            <a:duotone>
              <a:srgbClr val="0058F5"/>
              <a:srgbClr val="0058F5"/>
            </a:duotone>
          </a:blip>
          <a:stretch>
            <a:fillRect/>
          </a:stretch>
        </p:blipFill>
        <p:spPr>
          <a:xfrm>
            <a:off x="9639300" y="4430058"/>
            <a:ext cx="228600" cy="228600"/>
          </a:xfrm>
          <a:prstGeom prst="rect">
            <a:avLst/>
          </a:prstGeom>
        </p:spPr>
      </p:pic>
      <p:sp>
        <p:nvSpPr>
          <p:cNvPr id="13" name="Text 7"/>
          <p:cNvSpPr txBox="1"/>
          <p:nvPr/>
        </p:nvSpPr>
        <p:spPr>
          <a:xfrm>
            <a:off x="9461500" y="4772958"/>
            <a:ext cx="2184400" cy="671979"/>
          </a:xfrm>
          <a:prstGeom prst="rect">
            <a:avLst/>
          </a:prstGeom>
          <a:noFill/>
          <a:ln/>
        </p:spPr>
        <p:txBody>
          <a:bodyPr wrap="square" lIns="0" tIns="0" rIns="0" bIns="0" rtlCol="0" anchor="t">
            <a:spAutoFit/>
          </a:bodyPr>
          <a:lstStyle/>
          <a:p>
            <a:pPr marL="0" indent="0">
              <a:spcAft>
                <a:spcPts val="200"/>
              </a:spcAft>
              <a:buNone/>
            </a:pPr>
            <a:r>
              <a:rPr lang="en-US" sz="1600" b="1" dirty="0">
                <a:solidFill>
                  <a:schemeClr val="tx1"/>
                </a:solidFill>
              </a:rPr>
              <a:t>Print or export</a:t>
            </a:r>
            <a:endParaRPr lang="en-US" sz="1600" dirty="0"/>
          </a:p>
          <a:p>
            <a:pPr marL="0" indent="0">
              <a:spcAft>
                <a:spcPts val="200"/>
              </a:spcAft>
              <a:buNone/>
            </a:pPr>
            <a:r>
              <a:rPr lang="en-US" sz="1300" dirty="0">
                <a:solidFill>
                  <a:schemeClr val="tx1"/>
                </a:solidFill>
              </a:rPr>
              <a:t>Profitability, purchases and cashiers, printable or as CSV.</a:t>
            </a:r>
            <a:endParaRPr lang="en-US" sz="1600" dirty="0"/>
          </a:p>
        </p:txBody>
      </p:sp>
      <p:sp>
        <p:nvSpPr>
          <p:cNvPr id="14" name="Text 8"/>
          <p:cNvSpPr txBox="1"/>
          <p:nvPr/>
        </p:nvSpPr>
        <p:spPr>
          <a:xfrm>
            <a:off x="546100" y="5486400"/>
            <a:ext cx="8636000" cy="457200"/>
          </a:xfrm>
          <a:prstGeom prst="rect">
            <a:avLst/>
          </a:prstGeom>
          <a:noFill/>
          <a:ln/>
        </p:spPr>
        <p:txBody>
          <a:bodyPr wrap="square" lIns="0" tIns="0" rIns="0" bIns="0" rtlCol="0" anchor="ctr"/>
          <a:lstStyle/>
          <a:p>
            <a:pPr marL="0" indent="0">
              <a:buNone/>
            </a:pPr>
            <a:r>
              <a:rPr lang="en-US" sz="1400" i="1" dirty="0">
                <a:solidFill>
                  <a:schemeClr val="accent4"/>
                </a:solidFill>
              </a:rPr>
              <a:t>Figures shown are sample data from a demo workspace.</a:t>
            </a:r>
            <a:endParaRPr lang="en-US" sz="1400" dirty="0"/>
          </a:p>
        </p:txBody>
      </p:sp>
    </p:spTree>
    <p:extLst>
      <p:ext uri="{BB962C8B-B14F-4D97-AF65-F5344CB8AC3E}">
        <p14:creationId xmlns:p14="http://schemas.microsoft.com/office/powerpoint/2010/main" val="1708075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How a day runs</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9</a:t>
            </a:fld>
            <a:endParaRPr lang="en-US"/>
          </a:p>
        </p:txBody>
      </p:sp>
      <p:sp>
        <p:nvSpPr>
          <p:cNvPr id="3" name="LuTruck circle"/>
          <p:cNvSpPr/>
          <p:nvPr/>
        </p:nvSpPr>
        <p:spPr>
          <a:xfrm>
            <a:off x="548640" y="1645920"/>
            <a:ext cx="914400" cy="914400"/>
          </a:xfrm>
          <a:prstGeom prst="ellipse">
            <a:avLst/>
          </a:prstGeom>
          <a:solidFill>
            <a:srgbClr val="0058F5"/>
          </a:solidFill>
          <a:ln/>
        </p:spPr>
        <p:txBody>
          <a:bodyPr/>
          <a:lstStyle/>
          <a:p>
            <a:endParaRPr lang="en-SS"/>
          </a:p>
        </p:txBody>
      </p:sp>
      <p:pic>
        <p:nvPicPr>
          <p:cNvPr id="4" name="LuTruck" descr="preencoded.png"/>
          <p:cNvPicPr>
            <a:picLocks noChangeAspect="1"/>
          </p:cNvPicPr>
          <p:nvPr/>
        </p:nvPicPr>
        <p:blipFill>
          <a:blip r:embed="rId3"/>
          <a:stretch>
            <a:fillRect/>
          </a:stretch>
        </p:blipFill>
        <p:spPr>
          <a:xfrm>
            <a:off x="777240" y="1874520"/>
            <a:ext cx="457200" cy="457200"/>
          </a:xfrm>
          <a:prstGeom prst="rect">
            <a:avLst/>
          </a:prstGeom>
        </p:spPr>
      </p:pic>
      <p:sp>
        <p:nvSpPr>
          <p:cNvPr id="5" name="Text 2"/>
          <p:cNvSpPr txBox="1"/>
          <p:nvPr/>
        </p:nvSpPr>
        <p:spPr>
          <a:xfrm>
            <a:off x="1645920" y="1783080"/>
            <a:ext cx="914400" cy="640080"/>
          </a:xfrm>
          <a:prstGeom prst="rect">
            <a:avLst/>
          </a:prstGeom>
          <a:noFill/>
          <a:ln/>
        </p:spPr>
        <p:txBody>
          <a:bodyPr wrap="square" lIns="0" tIns="0" rIns="0" bIns="0" rtlCol="0" anchor="ctr"/>
          <a:lstStyle/>
          <a:p>
            <a:pPr marL="0" indent="0">
              <a:buNone/>
            </a:pPr>
            <a:r>
              <a:rPr lang="en-US" sz="3200" b="1" dirty="0">
                <a:solidFill>
                  <a:schemeClr val="accent2"/>
                </a:solidFill>
              </a:rPr>
              <a:t>01</a:t>
            </a:r>
            <a:endParaRPr lang="en-US" sz="3200" dirty="0"/>
          </a:p>
        </p:txBody>
      </p:sp>
      <p:sp>
        <p:nvSpPr>
          <p:cNvPr id="6" name="Text 3"/>
          <p:cNvSpPr txBox="1"/>
          <p:nvPr/>
        </p:nvSpPr>
        <p:spPr>
          <a:xfrm>
            <a:off x="548640" y="2788920"/>
            <a:ext cx="3154680" cy="502920"/>
          </a:xfrm>
          <a:prstGeom prst="rect">
            <a:avLst/>
          </a:prstGeom>
          <a:noFill/>
          <a:ln/>
        </p:spPr>
        <p:txBody>
          <a:bodyPr wrap="square" lIns="0" tIns="0" rIns="0" bIns="0" rtlCol="0" anchor="ctr"/>
          <a:lstStyle/>
          <a:p>
            <a:pPr marL="0" indent="0">
              <a:buNone/>
            </a:pPr>
            <a:r>
              <a:rPr lang="en-US" sz="2200" b="1" dirty="0">
                <a:solidFill>
                  <a:schemeClr val="tx1"/>
                </a:solidFill>
              </a:rPr>
              <a:t>Receive</a:t>
            </a:r>
            <a:endParaRPr lang="en-US" sz="2200" dirty="0"/>
          </a:p>
        </p:txBody>
      </p:sp>
      <p:sp>
        <p:nvSpPr>
          <p:cNvPr id="7" name="Text 4"/>
          <p:cNvSpPr txBox="1"/>
          <p:nvPr/>
        </p:nvSpPr>
        <p:spPr>
          <a:xfrm>
            <a:off x="548640" y="3291840"/>
            <a:ext cx="3154680" cy="1280160"/>
          </a:xfrm>
          <a:prstGeom prst="rect">
            <a:avLst/>
          </a:prstGeom>
          <a:noFill/>
          <a:ln/>
        </p:spPr>
        <p:txBody>
          <a:bodyPr wrap="square" lIns="0" tIns="0" rIns="0" bIns="0" rtlCol="0" anchor="t"/>
          <a:lstStyle/>
          <a:p>
            <a:pPr marL="0" indent="0">
              <a:buNone/>
            </a:pPr>
            <a:r>
              <a:rPr lang="en-US" sz="1500" dirty="0">
                <a:solidFill>
                  <a:schemeClr val="tx1"/>
                </a:solidFill>
              </a:rPr>
              <a:t>Goods arrive against a purchase order, by batch and expiry. The supplier bill appears in Finance.</a:t>
            </a:r>
            <a:endParaRPr lang="en-US" sz="1500" dirty="0"/>
          </a:p>
        </p:txBody>
      </p:sp>
      <p:pic>
        <p:nvPicPr>
          <p:cNvPr id="8" name="arrow 1" descr="preencoded.png"/>
          <p:cNvPicPr>
            <a:picLocks noChangeAspect="1"/>
          </p:cNvPicPr>
          <p:nvPr/>
        </p:nvPicPr>
        <p:blipFill>
          <a:blip r:embed="rId4"/>
          <a:stretch>
            <a:fillRect/>
          </a:stretch>
        </p:blipFill>
        <p:spPr>
          <a:xfrm>
            <a:off x="3836594" y="1828800"/>
            <a:ext cx="548640" cy="548640"/>
          </a:xfrm>
          <a:prstGeom prst="rect">
            <a:avLst/>
          </a:prstGeom>
        </p:spPr>
      </p:pic>
      <p:sp>
        <p:nvSpPr>
          <p:cNvPr id="9" name="LuScanBarcode circle"/>
          <p:cNvSpPr/>
          <p:nvPr/>
        </p:nvSpPr>
        <p:spPr>
          <a:xfrm>
            <a:off x="4518508" y="1645920"/>
            <a:ext cx="914400" cy="914400"/>
          </a:xfrm>
          <a:prstGeom prst="ellipse">
            <a:avLst/>
          </a:prstGeom>
          <a:solidFill>
            <a:srgbClr val="0058F5"/>
          </a:solidFill>
          <a:ln/>
        </p:spPr>
        <p:txBody>
          <a:bodyPr/>
          <a:lstStyle/>
          <a:p>
            <a:endParaRPr lang="en-SS"/>
          </a:p>
        </p:txBody>
      </p:sp>
      <p:pic>
        <p:nvPicPr>
          <p:cNvPr id="10" name="LuScanBarcode" descr="preencoded.png"/>
          <p:cNvPicPr>
            <a:picLocks noChangeAspect="1"/>
          </p:cNvPicPr>
          <p:nvPr/>
        </p:nvPicPr>
        <p:blipFill>
          <a:blip r:embed="rId5"/>
          <a:stretch>
            <a:fillRect/>
          </a:stretch>
        </p:blipFill>
        <p:spPr>
          <a:xfrm>
            <a:off x="4747108" y="1874520"/>
            <a:ext cx="457200" cy="457200"/>
          </a:xfrm>
          <a:prstGeom prst="rect">
            <a:avLst/>
          </a:prstGeom>
        </p:spPr>
      </p:pic>
      <p:sp>
        <p:nvSpPr>
          <p:cNvPr id="11" name="Text 6"/>
          <p:cNvSpPr txBox="1"/>
          <p:nvPr/>
        </p:nvSpPr>
        <p:spPr>
          <a:xfrm>
            <a:off x="5615788" y="1783080"/>
            <a:ext cx="914400" cy="640080"/>
          </a:xfrm>
          <a:prstGeom prst="rect">
            <a:avLst/>
          </a:prstGeom>
          <a:noFill/>
          <a:ln/>
        </p:spPr>
        <p:txBody>
          <a:bodyPr wrap="square" lIns="0" tIns="0" rIns="0" bIns="0" rtlCol="0" anchor="ctr"/>
          <a:lstStyle/>
          <a:p>
            <a:pPr marL="0" indent="0">
              <a:buNone/>
            </a:pPr>
            <a:r>
              <a:rPr lang="en-US" sz="3200" b="1" dirty="0">
                <a:solidFill>
                  <a:schemeClr val="accent2"/>
                </a:solidFill>
              </a:rPr>
              <a:t>02</a:t>
            </a:r>
            <a:endParaRPr lang="en-US" sz="3200" dirty="0"/>
          </a:p>
        </p:txBody>
      </p:sp>
      <p:sp>
        <p:nvSpPr>
          <p:cNvPr id="12" name="Text 7"/>
          <p:cNvSpPr txBox="1"/>
          <p:nvPr/>
        </p:nvSpPr>
        <p:spPr>
          <a:xfrm>
            <a:off x="4518508" y="2788920"/>
            <a:ext cx="3154680" cy="502920"/>
          </a:xfrm>
          <a:prstGeom prst="rect">
            <a:avLst/>
          </a:prstGeom>
          <a:noFill/>
          <a:ln/>
        </p:spPr>
        <p:txBody>
          <a:bodyPr wrap="square" lIns="0" tIns="0" rIns="0" bIns="0" rtlCol="0" anchor="ctr"/>
          <a:lstStyle/>
          <a:p>
            <a:pPr marL="0" indent="0">
              <a:buNone/>
            </a:pPr>
            <a:r>
              <a:rPr lang="en-US" sz="2200" b="1" dirty="0">
                <a:solidFill>
                  <a:schemeClr val="tx1"/>
                </a:solidFill>
              </a:rPr>
              <a:t>Sell and dispense</a:t>
            </a:r>
            <a:endParaRPr lang="en-US" sz="2200" dirty="0"/>
          </a:p>
        </p:txBody>
      </p:sp>
      <p:sp>
        <p:nvSpPr>
          <p:cNvPr id="13" name="Text 8"/>
          <p:cNvSpPr txBox="1"/>
          <p:nvPr/>
        </p:nvSpPr>
        <p:spPr>
          <a:xfrm>
            <a:off x="4518508" y="3291840"/>
            <a:ext cx="3154680" cy="1280160"/>
          </a:xfrm>
          <a:prstGeom prst="rect">
            <a:avLst/>
          </a:prstGeom>
          <a:noFill/>
          <a:ln/>
        </p:spPr>
        <p:txBody>
          <a:bodyPr wrap="square" lIns="0" tIns="0" rIns="0" bIns="0" rtlCol="0" anchor="t"/>
          <a:lstStyle/>
          <a:p>
            <a:pPr marL="0" indent="0">
              <a:buNone/>
            </a:pPr>
            <a:r>
              <a:rPr lang="en-US" sz="1500" dirty="0">
                <a:solidFill>
                  <a:schemeClr val="tx1"/>
                </a:solidFill>
              </a:rPr>
              <a:t>The counter picks the batch that expires first and checks prescriptions before dispensing.</a:t>
            </a:r>
            <a:endParaRPr lang="en-US" sz="1500" dirty="0"/>
          </a:p>
        </p:txBody>
      </p:sp>
      <p:pic>
        <p:nvPicPr>
          <p:cNvPr id="14" name="arrow 2" descr="preencoded.png"/>
          <p:cNvPicPr>
            <a:picLocks noChangeAspect="1"/>
          </p:cNvPicPr>
          <p:nvPr/>
        </p:nvPicPr>
        <p:blipFill>
          <a:blip r:embed="rId4"/>
          <a:stretch>
            <a:fillRect/>
          </a:stretch>
        </p:blipFill>
        <p:spPr>
          <a:xfrm>
            <a:off x="7806461" y="1828800"/>
            <a:ext cx="548640" cy="548640"/>
          </a:xfrm>
          <a:prstGeom prst="rect">
            <a:avLst/>
          </a:prstGeom>
        </p:spPr>
      </p:pic>
      <p:sp>
        <p:nvSpPr>
          <p:cNvPr id="15" name="LuWallet circle"/>
          <p:cNvSpPr/>
          <p:nvPr/>
        </p:nvSpPr>
        <p:spPr>
          <a:xfrm>
            <a:off x="8488375" y="1645920"/>
            <a:ext cx="914400" cy="914400"/>
          </a:xfrm>
          <a:prstGeom prst="ellipse">
            <a:avLst/>
          </a:prstGeom>
          <a:solidFill>
            <a:srgbClr val="0058F5"/>
          </a:solidFill>
          <a:ln/>
        </p:spPr>
        <p:txBody>
          <a:bodyPr/>
          <a:lstStyle/>
          <a:p>
            <a:endParaRPr lang="en-SS"/>
          </a:p>
        </p:txBody>
      </p:sp>
      <p:pic>
        <p:nvPicPr>
          <p:cNvPr id="16" name="LuWallet" descr="preencoded.png"/>
          <p:cNvPicPr>
            <a:picLocks noChangeAspect="1"/>
          </p:cNvPicPr>
          <p:nvPr/>
        </p:nvPicPr>
        <p:blipFill>
          <a:blip r:embed="rId6"/>
          <a:stretch>
            <a:fillRect/>
          </a:stretch>
        </p:blipFill>
        <p:spPr>
          <a:xfrm>
            <a:off x="8716975" y="1874520"/>
            <a:ext cx="457200" cy="457200"/>
          </a:xfrm>
          <a:prstGeom prst="rect">
            <a:avLst/>
          </a:prstGeom>
        </p:spPr>
      </p:pic>
      <p:sp>
        <p:nvSpPr>
          <p:cNvPr id="17" name="Text 10"/>
          <p:cNvSpPr txBox="1"/>
          <p:nvPr/>
        </p:nvSpPr>
        <p:spPr>
          <a:xfrm>
            <a:off x="9585655" y="1783080"/>
            <a:ext cx="914400" cy="640080"/>
          </a:xfrm>
          <a:prstGeom prst="rect">
            <a:avLst/>
          </a:prstGeom>
          <a:noFill/>
          <a:ln/>
        </p:spPr>
        <p:txBody>
          <a:bodyPr wrap="square" lIns="0" tIns="0" rIns="0" bIns="0" rtlCol="0" anchor="ctr"/>
          <a:lstStyle/>
          <a:p>
            <a:pPr marL="0" indent="0">
              <a:buNone/>
            </a:pPr>
            <a:r>
              <a:rPr lang="en-US" sz="3200" b="1" dirty="0">
                <a:solidFill>
                  <a:schemeClr val="accent2"/>
                </a:solidFill>
              </a:rPr>
              <a:t>03</a:t>
            </a:r>
            <a:endParaRPr lang="en-US" sz="3200" dirty="0"/>
          </a:p>
        </p:txBody>
      </p:sp>
      <p:sp>
        <p:nvSpPr>
          <p:cNvPr id="18" name="Text 11"/>
          <p:cNvSpPr txBox="1"/>
          <p:nvPr/>
        </p:nvSpPr>
        <p:spPr>
          <a:xfrm>
            <a:off x="8488375" y="2788920"/>
            <a:ext cx="3154680" cy="502920"/>
          </a:xfrm>
          <a:prstGeom prst="rect">
            <a:avLst/>
          </a:prstGeom>
          <a:noFill/>
          <a:ln/>
        </p:spPr>
        <p:txBody>
          <a:bodyPr wrap="square" lIns="0" tIns="0" rIns="0" bIns="0" rtlCol="0" anchor="ctr"/>
          <a:lstStyle/>
          <a:p>
            <a:pPr marL="0" indent="0">
              <a:buNone/>
            </a:pPr>
            <a:r>
              <a:rPr lang="en-US" sz="2200" b="1" dirty="0">
                <a:solidFill>
                  <a:schemeClr val="tx1"/>
                </a:solidFill>
              </a:rPr>
              <a:t>Close the day</a:t>
            </a:r>
            <a:endParaRPr lang="en-US" sz="2200" dirty="0"/>
          </a:p>
        </p:txBody>
      </p:sp>
      <p:sp>
        <p:nvSpPr>
          <p:cNvPr id="19" name="Text 12"/>
          <p:cNvSpPr txBox="1"/>
          <p:nvPr/>
        </p:nvSpPr>
        <p:spPr>
          <a:xfrm>
            <a:off x="8488375" y="3291840"/>
            <a:ext cx="3154680" cy="1280160"/>
          </a:xfrm>
          <a:prstGeom prst="rect">
            <a:avLst/>
          </a:prstGeom>
          <a:noFill/>
          <a:ln/>
        </p:spPr>
        <p:txBody>
          <a:bodyPr wrap="square" lIns="0" tIns="0" rIns="0" bIns="0" rtlCol="0" anchor="t"/>
          <a:lstStyle/>
          <a:p>
            <a:pPr marL="0" indent="0">
              <a:buNone/>
            </a:pPr>
            <a:r>
              <a:rPr lang="en-US" sz="1500" dirty="0">
                <a:solidFill>
                  <a:schemeClr val="tx1"/>
                </a:solidFill>
              </a:rPr>
              <a:t>Tills are counted. Revenue, cost of goods and cash are already in the ledger.</a:t>
            </a:r>
            <a:endParaRPr lang="en-US" sz="1500" dirty="0"/>
          </a:p>
        </p:txBody>
      </p:sp>
      <p:sp>
        <p:nvSpPr>
          <p:cNvPr id="20" name="finance band"/>
          <p:cNvSpPr/>
          <p:nvPr/>
        </p:nvSpPr>
        <p:spPr>
          <a:xfrm>
            <a:off x="548640" y="4937760"/>
            <a:ext cx="11094415" cy="914400"/>
          </a:xfrm>
          <a:prstGeom prst="roundRect">
            <a:avLst>
              <a:gd name="adj" fmla="val 10000"/>
            </a:avLst>
          </a:prstGeom>
          <a:solidFill>
            <a:schemeClr val="bg2"/>
          </a:solidFill>
          <a:ln/>
        </p:spPr>
        <p:txBody>
          <a:bodyPr/>
          <a:lstStyle/>
          <a:p>
            <a:endParaRPr lang="en-SS"/>
          </a:p>
        </p:txBody>
      </p:sp>
      <p:sp>
        <p:nvSpPr>
          <p:cNvPr id="21" name="LuLandmark circle"/>
          <p:cNvSpPr/>
          <p:nvPr/>
        </p:nvSpPr>
        <p:spPr>
          <a:xfrm>
            <a:off x="822960" y="5120640"/>
            <a:ext cx="548640" cy="548640"/>
          </a:xfrm>
          <a:prstGeom prst="ellipse">
            <a:avLst/>
          </a:prstGeom>
          <a:solidFill>
            <a:srgbClr val="FFFFFF"/>
          </a:solidFill>
          <a:ln/>
        </p:spPr>
        <p:txBody>
          <a:bodyPr/>
          <a:lstStyle/>
          <a:p>
            <a:endParaRPr lang="en-SS"/>
          </a:p>
        </p:txBody>
      </p:sp>
      <p:pic>
        <p:nvPicPr>
          <p:cNvPr id="22" name="LuLandmark" descr="preencoded.png"/>
          <p:cNvPicPr>
            <a:picLocks noChangeAspect="1"/>
          </p:cNvPicPr>
          <p:nvPr/>
        </p:nvPicPr>
        <p:blipFill>
          <a:blip r:embed="rId7">
            <a:duotone>
              <a:srgbClr val="0058F5"/>
              <a:srgbClr val="0058F5"/>
            </a:duotone>
          </a:blip>
          <a:stretch>
            <a:fillRect/>
          </a:stretch>
        </p:blipFill>
        <p:spPr>
          <a:xfrm>
            <a:off x="960120" y="5257800"/>
            <a:ext cx="274320" cy="274320"/>
          </a:xfrm>
          <a:prstGeom prst="rect">
            <a:avLst/>
          </a:prstGeom>
        </p:spPr>
      </p:pic>
      <p:sp>
        <p:nvSpPr>
          <p:cNvPr id="23" name="Text 15"/>
          <p:cNvSpPr txBox="1"/>
          <p:nvPr/>
        </p:nvSpPr>
        <p:spPr>
          <a:xfrm>
            <a:off x="1554480" y="5029200"/>
            <a:ext cx="9814255" cy="731520"/>
          </a:xfrm>
          <a:prstGeom prst="rect">
            <a:avLst/>
          </a:prstGeom>
          <a:noFill/>
          <a:ln/>
        </p:spPr>
        <p:txBody>
          <a:bodyPr wrap="square" lIns="0" tIns="0" rIns="0" bIns="0" rtlCol="0" anchor="ctr"/>
          <a:lstStyle/>
          <a:p>
            <a:pPr marL="0" indent="0">
              <a:buNone/>
            </a:pPr>
            <a:r>
              <a:rPr lang="en-US" sz="1600" dirty="0">
                <a:solidFill>
                  <a:schemeClr val="tx1"/>
                </a:solidFill>
              </a:rPr>
              <a:t>Finance &amp; Accounting is included: every sale, purchase, return and write-off posts to it on its own.</a:t>
            </a:r>
            <a:endParaRPr lang="en-US" sz="1600" dirty="0"/>
          </a:p>
        </p:txBody>
      </p:sp>
    </p:spTree>
    <p:extLst>
      <p:ext uri="{BB962C8B-B14F-4D97-AF65-F5344CB8AC3E}">
        <p14:creationId xmlns:p14="http://schemas.microsoft.com/office/powerpoint/2010/main" val="2826953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Web, desktop and mobile</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10</a:t>
            </a:fld>
            <a:endParaRPr lang="en-US"/>
          </a:p>
        </p:txBody>
      </p:sp>
      <p:sp>
        <p:nvSpPr>
          <p:cNvPr id="3" name="Web card"/>
          <p:cNvSpPr/>
          <p:nvPr/>
        </p:nvSpPr>
        <p:spPr>
          <a:xfrm>
            <a:off x="548640" y="1463040"/>
            <a:ext cx="3484778" cy="4480560"/>
          </a:xfrm>
          <a:prstGeom prst="roundRect">
            <a:avLst>
              <a:gd name="adj" fmla="val 3149"/>
            </a:avLst>
          </a:prstGeom>
          <a:solidFill>
            <a:schemeClr val="bg2"/>
          </a:solidFill>
          <a:ln/>
        </p:spPr>
        <p:txBody>
          <a:bodyPr/>
          <a:lstStyle/>
          <a:p>
            <a:endParaRPr lang="en-SS"/>
          </a:p>
        </p:txBody>
      </p:sp>
      <p:sp>
        <p:nvSpPr>
          <p:cNvPr id="4" name="LuGlobe circle"/>
          <p:cNvSpPr/>
          <p:nvPr/>
        </p:nvSpPr>
        <p:spPr>
          <a:xfrm>
            <a:off x="868680" y="1737360"/>
            <a:ext cx="731520" cy="731520"/>
          </a:xfrm>
          <a:prstGeom prst="ellipse">
            <a:avLst/>
          </a:prstGeom>
          <a:solidFill>
            <a:srgbClr val="0058F5"/>
          </a:solidFill>
          <a:ln/>
        </p:spPr>
        <p:txBody>
          <a:bodyPr/>
          <a:lstStyle/>
          <a:p>
            <a:endParaRPr lang="en-SS"/>
          </a:p>
        </p:txBody>
      </p:sp>
      <p:pic>
        <p:nvPicPr>
          <p:cNvPr id="5" name="LuGlobe" descr="preencoded.png"/>
          <p:cNvPicPr>
            <a:picLocks noChangeAspect="1"/>
          </p:cNvPicPr>
          <p:nvPr/>
        </p:nvPicPr>
        <p:blipFill>
          <a:blip r:embed="rId3"/>
          <a:stretch>
            <a:fillRect/>
          </a:stretch>
        </p:blipFill>
        <p:spPr>
          <a:xfrm>
            <a:off x="1051560" y="1920240"/>
            <a:ext cx="365760" cy="365760"/>
          </a:xfrm>
          <a:prstGeom prst="rect">
            <a:avLst/>
          </a:prstGeom>
        </p:spPr>
      </p:pic>
      <p:sp>
        <p:nvSpPr>
          <p:cNvPr id="6" name="Text 3"/>
          <p:cNvSpPr txBox="1"/>
          <p:nvPr/>
        </p:nvSpPr>
        <p:spPr>
          <a:xfrm>
            <a:off x="1783080" y="1828800"/>
            <a:ext cx="2021738" cy="548640"/>
          </a:xfrm>
          <a:prstGeom prst="rect">
            <a:avLst/>
          </a:prstGeom>
          <a:noFill/>
          <a:ln/>
        </p:spPr>
        <p:txBody>
          <a:bodyPr wrap="square" lIns="0" tIns="0" rIns="0" bIns="0" rtlCol="0" anchor="ctr"/>
          <a:lstStyle/>
          <a:p>
            <a:pPr marL="0" indent="0">
              <a:buNone/>
            </a:pPr>
            <a:r>
              <a:rPr lang="en-US" sz="2400" b="1" dirty="0">
                <a:solidFill>
                  <a:schemeClr val="tx1"/>
                </a:solidFill>
              </a:rPr>
              <a:t>Web</a:t>
            </a:r>
            <a:endParaRPr lang="en-US" sz="2400" dirty="0"/>
          </a:p>
        </p:txBody>
      </p:sp>
      <p:sp>
        <p:nvSpPr>
          <p:cNvPr id="7" name="Text 4"/>
          <p:cNvSpPr txBox="1"/>
          <p:nvPr/>
        </p:nvSpPr>
        <p:spPr>
          <a:xfrm>
            <a:off x="868680" y="2743200"/>
            <a:ext cx="2844698"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Every screen in the browser, at every branch</a:t>
            </a:r>
            <a:endParaRPr lang="en-US" sz="1500" dirty="0"/>
          </a:p>
          <a:p>
            <a:pPr marL="342900" indent="-342900">
              <a:spcAft>
                <a:spcPts val="1000"/>
              </a:spcAft>
              <a:buSzPct val="100000"/>
              <a:buChar char="•"/>
            </a:pPr>
            <a:r>
              <a:rPr lang="en-US" sz="1500" dirty="0">
                <a:solidFill>
                  <a:schemeClr val="tx1"/>
                </a:solidFill>
              </a:rPr>
              <a:t>Your workspace at its own address</a:t>
            </a:r>
            <a:endParaRPr lang="en-US" sz="1500" dirty="0"/>
          </a:p>
          <a:p>
            <a:pPr marL="342900" indent="-342900">
              <a:spcAft>
                <a:spcPts val="1000"/>
              </a:spcAft>
              <a:buSzPct val="100000"/>
              <a:buChar char="•"/>
            </a:pPr>
            <a:r>
              <a:rPr lang="en-US" sz="1500" dirty="0">
                <a:solidFill>
                  <a:schemeClr val="tx1"/>
                </a:solidFill>
              </a:rPr>
              <a:t>Subscription on Miles Cloud</a:t>
            </a:r>
            <a:endParaRPr lang="en-US" sz="1500" dirty="0"/>
          </a:p>
        </p:txBody>
      </p:sp>
      <p:sp>
        <p:nvSpPr>
          <p:cNvPr id="8" name="Desktop card"/>
          <p:cNvSpPr/>
          <p:nvPr/>
        </p:nvSpPr>
        <p:spPr>
          <a:xfrm>
            <a:off x="4353458" y="1463040"/>
            <a:ext cx="3484778" cy="4480560"/>
          </a:xfrm>
          <a:prstGeom prst="roundRect">
            <a:avLst>
              <a:gd name="adj" fmla="val 3149"/>
            </a:avLst>
          </a:prstGeom>
          <a:solidFill>
            <a:schemeClr val="bg2"/>
          </a:solidFill>
          <a:ln/>
        </p:spPr>
        <p:txBody>
          <a:bodyPr/>
          <a:lstStyle/>
          <a:p>
            <a:endParaRPr lang="en-SS"/>
          </a:p>
        </p:txBody>
      </p:sp>
      <p:sp>
        <p:nvSpPr>
          <p:cNvPr id="9" name="LuMonitor circle"/>
          <p:cNvSpPr/>
          <p:nvPr/>
        </p:nvSpPr>
        <p:spPr>
          <a:xfrm>
            <a:off x="4673498" y="1737360"/>
            <a:ext cx="731520" cy="731520"/>
          </a:xfrm>
          <a:prstGeom prst="ellipse">
            <a:avLst/>
          </a:prstGeom>
          <a:solidFill>
            <a:srgbClr val="0058F5"/>
          </a:solidFill>
          <a:ln/>
        </p:spPr>
        <p:txBody>
          <a:bodyPr/>
          <a:lstStyle/>
          <a:p>
            <a:endParaRPr lang="en-SS"/>
          </a:p>
        </p:txBody>
      </p:sp>
      <p:pic>
        <p:nvPicPr>
          <p:cNvPr id="10" name="LuMonitor" descr="preencoded.png"/>
          <p:cNvPicPr>
            <a:picLocks noChangeAspect="1"/>
          </p:cNvPicPr>
          <p:nvPr/>
        </p:nvPicPr>
        <p:blipFill>
          <a:blip r:embed="rId4"/>
          <a:stretch>
            <a:fillRect/>
          </a:stretch>
        </p:blipFill>
        <p:spPr>
          <a:xfrm>
            <a:off x="4856378" y="1920240"/>
            <a:ext cx="365760" cy="365760"/>
          </a:xfrm>
          <a:prstGeom prst="rect">
            <a:avLst/>
          </a:prstGeom>
        </p:spPr>
      </p:pic>
      <p:sp>
        <p:nvSpPr>
          <p:cNvPr id="11" name="Text 7"/>
          <p:cNvSpPr txBox="1"/>
          <p:nvPr/>
        </p:nvSpPr>
        <p:spPr>
          <a:xfrm>
            <a:off x="5587898" y="1828800"/>
            <a:ext cx="2021738" cy="548640"/>
          </a:xfrm>
          <a:prstGeom prst="rect">
            <a:avLst/>
          </a:prstGeom>
          <a:noFill/>
          <a:ln/>
        </p:spPr>
        <p:txBody>
          <a:bodyPr wrap="square" lIns="0" tIns="0" rIns="0" bIns="0" rtlCol="0" anchor="ctr"/>
          <a:lstStyle/>
          <a:p>
            <a:pPr marL="0" indent="0">
              <a:buNone/>
            </a:pPr>
            <a:r>
              <a:rPr lang="en-US" sz="2400" b="1" dirty="0">
                <a:solidFill>
                  <a:schemeClr val="tx1"/>
                </a:solidFill>
              </a:rPr>
              <a:t>Desktop</a:t>
            </a:r>
            <a:endParaRPr lang="en-US" sz="2400" dirty="0"/>
          </a:p>
        </p:txBody>
      </p:sp>
      <p:sp>
        <p:nvSpPr>
          <p:cNvPr id="12" name="Text 8"/>
          <p:cNvSpPr txBox="1"/>
          <p:nvPr/>
        </p:nvSpPr>
        <p:spPr>
          <a:xfrm>
            <a:off x="4673498" y="2743200"/>
            <a:ext cx="2844698"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The counter on a Windows PC, with barcode scanners and shortcuts</a:t>
            </a:r>
            <a:endParaRPr lang="en-US" sz="1500" dirty="0"/>
          </a:p>
          <a:p>
            <a:pPr marL="342900" indent="-342900">
              <a:spcAft>
                <a:spcPts val="1000"/>
              </a:spcAft>
              <a:buSzPct val="100000"/>
              <a:buChar char="•"/>
            </a:pPr>
            <a:r>
              <a:rPr lang="en-US" sz="1500" dirty="0">
                <a:solidFill>
                  <a:schemeClr val="tx1"/>
                </a:solidFill>
              </a:rPr>
              <a:t>Keeps selling offline; sales are sent once the connection is back</a:t>
            </a:r>
            <a:endParaRPr lang="en-US" sz="1500" dirty="0"/>
          </a:p>
          <a:p>
            <a:pPr marL="342900" indent="-342900">
              <a:spcAft>
                <a:spcPts val="1000"/>
              </a:spcAft>
              <a:buSzPct val="100000"/>
              <a:buChar char="•"/>
            </a:pPr>
            <a:r>
              <a:rPr lang="en-US" sz="1500" dirty="0">
                <a:solidFill>
                  <a:schemeClr val="tx1"/>
                </a:solidFill>
              </a:rPr>
              <a:t>Standalone single-branch edition, bought once, for no internet at all</a:t>
            </a:r>
            <a:endParaRPr lang="en-US" sz="1500" dirty="0"/>
          </a:p>
        </p:txBody>
      </p:sp>
      <p:sp>
        <p:nvSpPr>
          <p:cNvPr id="13" name="Mobile card"/>
          <p:cNvSpPr/>
          <p:nvPr/>
        </p:nvSpPr>
        <p:spPr>
          <a:xfrm>
            <a:off x="8158277" y="1463040"/>
            <a:ext cx="3484778" cy="4480560"/>
          </a:xfrm>
          <a:prstGeom prst="roundRect">
            <a:avLst>
              <a:gd name="adj" fmla="val 3149"/>
            </a:avLst>
          </a:prstGeom>
          <a:solidFill>
            <a:schemeClr val="bg2"/>
          </a:solidFill>
          <a:ln/>
        </p:spPr>
        <p:txBody>
          <a:bodyPr/>
          <a:lstStyle/>
          <a:p>
            <a:endParaRPr lang="en-SS"/>
          </a:p>
        </p:txBody>
      </p:sp>
      <p:sp>
        <p:nvSpPr>
          <p:cNvPr id="14" name="LuSmartphone circle"/>
          <p:cNvSpPr/>
          <p:nvPr/>
        </p:nvSpPr>
        <p:spPr>
          <a:xfrm>
            <a:off x="8478317" y="1737360"/>
            <a:ext cx="731520" cy="731520"/>
          </a:xfrm>
          <a:prstGeom prst="ellipse">
            <a:avLst/>
          </a:prstGeom>
          <a:solidFill>
            <a:srgbClr val="0058F5"/>
          </a:solidFill>
          <a:ln/>
        </p:spPr>
        <p:txBody>
          <a:bodyPr/>
          <a:lstStyle/>
          <a:p>
            <a:endParaRPr lang="en-SS"/>
          </a:p>
        </p:txBody>
      </p:sp>
      <p:pic>
        <p:nvPicPr>
          <p:cNvPr id="15" name="LuSmartphone" descr="preencoded.png"/>
          <p:cNvPicPr>
            <a:picLocks noChangeAspect="1"/>
          </p:cNvPicPr>
          <p:nvPr/>
        </p:nvPicPr>
        <p:blipFill>
          <a:blip r:embed="rId5"/>
          <a:stretch>
            <a:fillRect/>
          </a:stretch>
        </p:blipFill>
        <p:spPr>
          <a:xfrm>
            <a:off x="8661197" y="1920240"/>
            <a:ext cx="365760" cy="365760"/>
          </a:xfrm>
          <a:prstGeom prst="rect">
            <a:avLst/>
          </a:prstGeom>
        </p:spPr>
      </p:pic>
      <p:sp>
        <p:nvSpPr>
          <p:cNvPr id="16" name="Text 11"/>
          <p:cNvSpPr txBox="1"/>
          <p:nvPr/>
        </p:nvSpPr>
        <p:spPr>
          <a:xfrm>
            <a:off x="9392717" y="1828800"/>
            <a:ext cx="2021738" cy="548640"/>
          </a:xfrm>
          <a:prstGeom prst="rect">
            <a:avLst/>
          </a:prstGeom>
          <a:noFill/>
          <a:ln/>
        </p:spPr>
        <p:txBody>
          <a:bodyPr wrap="square" lIns="0" tIns="0" rIns="0" bIns="0" rtlCol="0" anchor="ctr"/>
          <a:lstStyle/>
          <a:p>
            <a:pPr marL="0" indent="0">
              <a:buNone/>
            </a:pPr>
            <a:r>
              <a:rPr lang="en-US" sz="2400" b="1" dirty="0">
                <a:solidFill>
                  <a:schemeClr val="tx1"/>
                </a:solidFill>
              </a:rPr>
              <a:t>Mobile</a:t>
            </a:r>
            <a:endParaRPr lang="en-US" sz="2400" dirty="0"/>
          </a:p>
        </p:txBody>
      </p:sp>
      <p:sp>
        <p:nvSpPr>
          <p:cNvPr id="17" name="Text 12"/>
          <p:cNvSpPr txBox="1"/>
          <p:nvPr/>
        </p:nvSpPr>
        <p:spPr>
          <a:xfrm>
            <a:off x="8478317" y="2743200"/>
            <a:ext cx="2844698"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Sell, dispense and run a shift on a phone or tablet</a:t>
            </a:r>
            <a:endParaRPr lang="en-US" sz="1500" dirty="0"/>
          </a:p>
          <a:p>
            <a:pPr marL="342900" indent="-342900">
              <a:spcAft>
                <a:spcPts val="1000"/>
              </a:spcAft>
              <a:buSzPct val="100000"/>
              <a:buChar char="•"/>
            </a:pPr>
            <a:r>
              <a:rPr lang="en-US" sz="1500" dirty="0">
                <a:solidFill>
                  <a:schemeClr val="tx1"/>
                </a:solidFill>
              </a:rPr>
              <a:t>Scan barcodes with the camera</a:t>
            </a:r>
            <a:endParaRPr lang="en-US" sz="1500" dirty="0"/>
          </a:p>
          <a:p>
            <a:pPr marL="342900" indent="-342900">
              <a:spcAft>
                <a:spcPts val="1000"/>
              </a:spcAft>
              <a:buSzPct val="100000"/>
              <a:buChar char="•"/>
            </a:pPr>
            <a:r>
              <a:rPr lang="en-US" sz="1500" dirty="0">
                <a:solidFill>
                  <a:schemeClr val="tx1"/>
                </a:solidFill>
              </a:rPr>
              <a:t>Bluetooth receipt printers on Android; prescriptions are never queued offline</a:t>
            </a:r>
            <a:endParaRPr lang="en-US" sz="1500" dirty="0"/>
          </a:p>
        </p:txBody>
      </p:sp>
    </p:spTree>
    <p:extLst>
      <p:ext uri="{BB962C8B-B14F-4D97-AF65-F5344CB8AC3E}">
        <p14:creationId xmlns:p14="http://schemas.microsoft.com/office/powerpoint/2010/main" val="1594709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prstGeom prst="rect">
            <a:avLst/>
          </a:prstGeom>
          <a:noFill/>
          <a:ln/>
        </p:spPr>
        <p:txBody>
          <a:bodyPr wrap="square" lIns="0" tIns="0" rIns="0" bIns="0" rtlCol="0" anchor="ctr"/>
          <a:lstStyle/>
          <a:p>
            <a:pPr marL="0" indent="0" algn="l">
              <a:buNone/>
            </a:pPr>
            <a:r>
              <a:rPr lang="en-US" sz="3600" b="1" dirty="0">
                <a:solidFill>
                  <a:schemeClr val="tx1"/>
                </a:solidFill>
              </a:rPr>
              <a:t>Part of Miles Cloud</a:t>
            </a: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1607A"/>
                </a:solidFill>
              </a:defRPr>
            </a:lvl1pPr>
          </a:lstStyle>
          <a:p>
            <a:pPr algn="r"/>
            <a:fld id="{F7021451-1387-4CA6-816F-3879F97B5CBC}" type="slidenum">
              <a:rPr lang="en-US" b="0"/>
              <a:t>11</a:t>
            </a:fld>
            <a:endParaRPr lang="en-US"/>
          </a:p>
        </p:txBody>
      </p:sp>
      <p:sp>
        <p:nvSpPr>
          <p:cNvPr id="3" name="Text 1"/>
          <p:cNvSpPr txBox="1"/>
          <p:nvPr/>
        </p:nvSpPr>
        <p:spPr>
          <a:xfrm>
            <a:off x="548640" y="1463040"/>
            <a:ext cx="4206240" cy="2032000"/>
          </a:xfrm>
          <a:prstGeom prst="rect">
            <a:avLst/>
          </a:prstGeom>
          <a:noFill/>
          <a:ln/>
        </p:spPr>
        <p:txBody>
          <a:bodyPr wrap="square" lIns="0" tIns="0" rIns="0" bIns="0" rtlCol="0" anchor="t"/>
          <a:lstStyle/>
          <a:p>
            <a:pPr marL="0" indent="0">
              <a:buNone/>
            </a:pPr>
            <a:r>
              <a:rPr lang="en-US" sz="1800" dirty="0">
                <a:solidFill>
                  <a:schemeClr val="tx1"/>
                </a:solidFill>
              </a:rPr>
              <a:t>Miles Pharmacy runs on Miles Cloud, the platform every Miles product shares. Add Miles Finance, Miles HR or the next application to the same workspace when you are ready.</a:t>
            </a:r>
            <a:endParaRPr lang="en-US" sz="1800" dirty="0"/>
          </a:p>
        </p:txBody>
      </p:sp>
      <p:sp>
        <p:nvSpPr>
          <p:cNvPr id="4" name="finance included"/>
          <p:cNvSpPr/>
          <p:nvPr/>
        </p:nvSpPr>
        <p:spPr>
          <a:xfrm>
            <a:off x="548640" y="3657600"/>
            <a:ext cx="4206240" cy="1920239"/>
          </a:xfrm>
          <a:prstGeom prst="roundRect">
            <a:avLst>
              <a:gd name="adj" fmla="val 7143"/>
            </a:avLst>
          </a:prstGeom>
          <a:solidFill>
            <a:schemeClr val="accent1"/>
          </a:solidFill>
          <a:ln/>
        </p:spPr>
        <p:txBody>
          <a:bodyPr/>
          <a:lstStyle/>
          <a:p>
            <a:endParaRPr lang="en-SS"/>
          </a:p>
        </p:txBody>
      </p:sp>
      <p:sp>
        <p:nvSpPr>
          <p:cNvPr id="5" name="Text 3"/>
          <p:cNvSpPr txBox="1"/>
          <p:nvPr/>
        </p:nvSpPr>
        <p:spPr>
          <a:xfrm>
            <a:off x="822960" y="3810000"/>
            <a:ext cx="3657600" cy="1612900"/>
          </a:xfrm>
          <a:prstGeom prst="rect">
            <a:avLst/>
          </a:prstGeom>
          <a:noFill/>
          <a:ln/>
        </p:spPr>
        <p:txBody>
          <a:bodyPr wrap="square" lIns="0" tIns="0" rIns="0" bIns="0" rtlCol="0" anchor="ctr" anchorCtr="0"/>
          <a:lstStyle/>
          <a:p>
            <a:pPr marL="0" indent="0">
              <a:buNone/>
            </a:pPr>
            <a:r>
              <a:rPr lang="en-US" sz="1800" b="1" dirty="0">
                <a:solidFill>
                  <a:schemeClr val="bg1"/>
                </a:solidFill>
              </a:rPr>
              <a:t>Finance &amp; Accounting included</a:t>
            </a:r>
            <a:endParaRPr lang="en-US" sz="1800" dirty="0"/>
          </a:p>
          <a:p>
            <a:pPr marL="0" indent="0">
              <a:buNone/>
            </a:pPr>
            <a:r>
              <a:rPr lang="en-US" sz="1400" dirty="0">
                <a:solidFill>
                  <a:schemeClr val="bg1"/>
                </a:solidFill>
              </a:rPr>
              <a:t>Every Miles Pharmacy workspace comes with its books.</a:t>
            </a:r>
            <a:endParaRPr lang="en-US" sz="1800" dirty="0"/>
          </a:p>
        </p:txBody>
      </p:sp>
      <p:sp>
        <p:nvSpPr>
          <p:cNvPr id="6" name="One sign-in card"/>
          <p:cNvSpPr/>
          <p:nvPr/>
        </p:nvSpPr>
        <p:spPr>
          <a:xfrm>
            <a:off x="5212080" y="1463040"/>
            <a:ext cx="3078328" cy="1920240"/>
          </a:xfrm>
          <a:prstGeom prst="roundRect">
            <a:avLst>
              <a:gd name="adj" fmla="val 4762"/>
            </a:avLst>
          </a:prstGeom>
          <a:solidFill>
            <a:schemeClr val="bg2"/>
          </a:solidFill>
          <a:ln/>
        </p:spPr>
        <p:txBody>
          <a:bodyPr/>
          <a:lstStyle/>
          <a:p>
            <a:endParaRPr lang="en-SS"/>
          </a:p>
        </p:txBody>
      </p:sp>
      <p:sp>
        <p:nvSpPr>
          <p:cNvPr id="7" name="LuKeyRound circle"/>
          <p:cNvSpPr/>
          <p:nvPr/>
        </p:nvSpPr>
        <p:spPr>
          <a:xfrm>
            <a:off x="5486400" y="1737360"/>
            <a:ext cx="594360" cy="594360"/>
          </a:xfrm>
          <a:prstGeom prst="ellipse">
            <a:avLst/>
          </a:prstGeom>
          <a:solidFill>
            <a:srgbClr val="FFFFFF"/>
          </a:solidFill>
          <a:ln/>
        </p:spPr>
        <p:txBody>
          <a:bodyPr/>
          <a:lstStyle/>
          <a:p>
            <a:endParaRPr lang="en-SS"/>
          </a:p>
        </p:txBody>
      </p:sp>
      <p:pic>
        <p:nvPicPr>
          <p:cNvPr id="8" name="LuKeyRound" descr="preencoded.png"/>
          <p:cNvPicPr>
            <a:picLocks noChangeAspect="1"/>
          </p:cNvPicPr>
          <p:nvPr/>
        </p:nvPicPr>
        <p:blipFill>
          <a:blip r:embed="rId3">
            <a:duotone>
              <a:srgbClr val="0058F5"/>
              <a:srgbClr val="0058F5"/>
            </a:duotone>
          </a:blip>
          <a:stretch>
            <a:fillRect/>
          </a:stretch>
        </p:blipFill>
        <p:spPr>
          <a:xfrm>
            <a:off x="5634990" y="1885950"/>
            <a:ext cx="297180" cy="297180"/>
          </a:xfrm>
          <a:prstGeom prst="rect">
            <a:avLst/>
          </a:prstGeom>
        </p:spPr>
      </p:pic>
      <p:sp>
        <p:nvSpPr>
          <p:cNvPr id="9" name="Text 6"/>
          <p:cNvSpPr txBox="1"/>
          <p:nvPr/>
        </p:nvSpPr>
        <p:spPr>
          <a:xfrm>
            <a:off x="5486400" y="2423160"/>
            <a:ext cx="2529688" cy="868680"/>
          </a:xfrm>
          <a:prstGeom prst="rect">
            <a:avLst/>
          </a:prstGeom>
          <a:noFill/>
          <a:ln/>
        </p:spPr>
        <p:txBody>
          <a:bodyPr wrap="square" lIns="0" tIns="0" rIns="0" bIns="0" rtlCol="0" anchor="t"/>
          <a:lstStyle/>
          <a:p>
            <a:pPr marL="0" indent="0">
              <a:buNone/>
            </a:pPr>
            <a:r>
              <a:rPr lang="en-US" sz="1700" b="1" dirty="0">
                <a:solidFill>
                  <a:schemeClr val="tx1"/>
                </a:solidFill>
              </a:rPr>
              <a:t>One sign-in</a:t>
            </a:r>
            <a:endParaRPr lang="en-US" sz="1700" dirty="0"/>
          </a:p>
          <a:p>
            <a:pPr marL="0" indent="0">
              <a:buNone/>
            </a:pPr>
            <a:r>
              <a:rPr lang="en-US" sz="1400" dirty="0">
                <a:solidFill>
                  <a:schemeClr val="tx1"/>
                </a:solidFill>
              </a:rPr>
              <a:t>Google, passkeys and two-step verification, for every Miles app.</a:t>
            </a:r>
            <a:endParaRPr lang="en-US" sz="1700" dirty="0"/>
          </a:p>
        </p:txBody>
      </p:sp>
      <p:sp>
        <p:nvSpPr>
          <p:cNvPr id="10" name="Branches and roles card"/>
          <p:cNvSpPr/>
          <p:nvPr/>
        </p:nvSpPr>
        <p:spPr>
          <a:xfrm>
            <a:off x="8564728" y="1463040"/>
            <a:ext cx="3078328" cy="1920240"/>
          </a:xfrm>
          <a:prstGeom prst="roundRect">
            <a:avLst>
              <a:gd name="adj" fmla="val 4762"/>
            </a:avLst>
          </a:prstGeom>
          <a:solidFill>
            <a:schemeClr val="bg2"/>
          </a:solidFill>
          <a:ln/>
        </p:spPr>
        <p:txBody>
          <a:bodyPr/>
          <a:lstStyle/>
          <a:p>
            <a:endParaRPr lang="en-SS"/>
          </a:p>
        </p:txBody>
      </p:sp>
      <p:sp>
        <p:nvSpPr>
          <p:cNvPr id="11" name="LuBuilding2 circle"/>
          <p:cNvSpPr/>
          <p:nvPr/>
        </p:nvSpPr>
        <p:spPr>
          <a:xfrm>
            <a:off x="8839048" y="1737360"/>
            <a:ext cx="594360" cy="594360"/>
          </a:xfrm>
          <a:prstGeom prst="ellipse">
            <a:avLst/>
          </a:prstGeom>
          <a:solidFill>
            <a:srgbClr val="FFFFFF"/>
          </a:solidFill>
          <a:ln/>
        </p:spPr>
        <p:txBody>
          <a:bodyPr/>
          <a:lstStyle/>
          <a:p>
            <a:endParaRPr lang="en-SS"/>
          </a:p>
        </p:txBody>
      </p:sp>
      <p:pic>
        <p:nvPicPr>
          <p:cNvPr id="12" name="LuBuilding2" descr="preencoded.png"/>
          <p:cNvPicPr>
            <a:picLocks noChangeAspect="1"/>
          </p:cNvPicPr>
          <p:nvPr/>
        </p:nvPicPr>
        <p:blipFill>
          <a:blip r:embed="rId4">
            <a:duotone>
              <a:srgbClr val="0058F5"/>
              <a:srgbClr val="0058F5"/>
            </a:duotone>
          </a:blip>
          <a:stretch>
            <a:fillRect/>
          </a:stretch>
        </p:blipFill>
        <p:spPr>
          <a:xfrm>
            <a:off x="8987638" y="1885950"/>
            <a:ext cx="297180" cy="297180"/>
          </a:xfrm>
          <a:prstGeom prst="rect">
            <a:avLst/>
          </a:prstGeom>
        </p:spPr>
      </p:pic>
      <p:sp>
        <p:nvSpPr>
          <p:cNvPr id="13" name="Text 9"/>
          <p:cNvSpPr txBox="1"/>
          <p:nvPr/>
        </p:nvSpPr>
        <p:spPr>
          <a:xfrm>
            <a:off x="8839048" y="2423160"/>
            <a:ext cx="2529688" cy="868680"/>
          </a:xfrm>
          <a:prstGeom prst="rect">
            <a:avLst/>
          </a:prstGeom>
          <a:noFill/>
          <a:ln/>
        </p:spPr>
        <p:txBody>
          <a:bodyPr wrap="square" lIns="0" tIns="0" rIns="0" bIns="0" rtlCol="0" anchor="t"/>
          <a:lstStyle/>
          <a:p>
            <a:pPr marL="0" indent="0">
              <a:buNone/>
            </a:pPr>
            <a:r>
              <a:rPr lang="en-US" sz="1700" b="1" dirty="0">
                <a:solidFill>
                  <a:schemeClr val="tx1"/>
                </a:solidFill>
              </a:rPr>
              <a:t>Branches and roles</a:t>
            </a:r>
            <a:endParaRPr lang="en-US" sz="1700" dirty="0"/>
          </a:p>
          <a:p>
            <a:pPr marL="0" indent="0">
              <a:buNone/>
            </a:pPr>
            <a:r>
              <a:rPr lang="en-US" sz="1400" dirty="0">
                <a:solidFill>
                  <a:schemeClr val="tx1"/>
                </a:solidFill>
              </a:rPr>
              <a:t>A cashier in one branch sees nothing in another.</a:t>
            </a:r>
            <a:endParaRPr lang="en-US" sz="1700" dirty="0"/>
          </a:p>
        </p:txBody>
      </p:sp>
      <p:sp>
        <p:nvSpPr>
          <p:cNvPr id="14" name="One set of books card"/>
          <p:cNvSpPr/>
          <p:nvPr/>
        </p:nvSpPr>
        <p:spPr>
          <a:xfrm>
            <a:off x="5212080" y="3657600"/>
            <a:ext cx="3078328" cy="1920240"/>
          </a:xfrm>
          <a:prstGeom prst="roundRect">
            <a:avLst>
              <a:gd name="adj" fmla="val 4762"/>
            </a:avLst>
          </a:prstGeom>
          <a:solidFill>
            <a:schemeClr val="bg2"/>
          </a:solidFill>
          <a:ln/>
        </p:spPr>
        <p:txBody>
          <a:bodyPr/>
          <a:lstStyle/>
          <a:p>
            <a:endParaRPr lang="en-SS"/>
          </a:p>
        </p:txBody>
      </p:sp>
      <p:sp>
        <p:nvSpPr>
          <p:cNvPr id="15" name="LuLandmark circle"/>
          <p:cNvSpPr/>
          <p:nvPr/>
        </p:nvSpPr>
        <p:spPr>
          <a:xfrm>
            <a:off x="5486400" y="3931920"/>
            <a:ext cx="594360" cy="594360"/>
          </a:xfrm>
          <a:prstGeom prst="ellipse">
            <a:avLst/>
          </a:prstGeom>
          <a:solidFill>
            <a:srgbClr val="FFFFFF"/>
          </a:solidFill>
          <a:ln/>
        </p:spPr>
        <p:txBody>
          <a:bodyPr/>
          <a:lstStyle/>
          <a:p>
            <a:endParaRPr lang="en-SS"/>
          </a:p>
        </p:txBody>
      </p:sp>
      <p:pic>
        <p:nvPicPr>
          <p:cNvPr id="16" name="LuLandmark" descr="preencoded.png"/>
          <p:cNvPicPr>
            <a:picLocks noChangeAspect="1"/>
          </p:cNvPicPr>
          <p:nvPr/>
        </p:nvPicPr>
        <p:blipFill>
          <a:blip r:embed="rId5">
            <a:duotone>
              <a:srgbClr val="0058F5"/>
              <a:srgbClr val="0058F5"/>
            </a:duotone>
          </a:blip>
          <a:stretch>
            <a:fillRect/>
          </a:stretch>
        </p:blipFill>
        <p:spPr>
          <a:xfrm>
            <a:off x="5634990" y="4080510"/>
            <a:ext cx="297180" cy="297180"/>
          </a:xfrm>
          <a:prstGeom prst="rect">
            <a:avLst/>
          </a:prstGeom>
        </p:spPr>
      </p:pic>
      <p:sp>
        <p:nvSpPr>
          <p:cNvPr id="17" name="Text 12"/>
          <p:cNvSpPr txBox="1"/>
          <p:nvPr/>
        </p:nvSpPr>
        <p:spPr>
          <a:xfrm>
            <a:off x="5486400" y="4617720"/>
            <a:ext cx="2529688" cy="868680"/>
          </a:xfrm>
          <a:prstGeom prst="rect">
            <a:avLst/>
          </a:prstGeom>
          <a:noFill/>
          <a:ln/>
        </p:spPr>
        <p:txBody>
          <a:bodyPr wrap="square" lIns="0" tIns="0" rIns="0" bIns="0" rtlCol="0" anchor="t"/>
          <a:lstStyle/>
          <a:p>
            <a:pPr marL="0" indent="0">
              <a:buNone/>
            </a:pPr>
            <a:r>
              <a:rPr lang="en-US" sz="1700" b="1" dirty="0">
                <a:solidFill>
                  <a:schemeClr val="tx1"/>
                </a:solidFill>
              </a:rPr>
              <a:t>One set of books</a:t>
            </a:r>
            <a:endParaRPr lang="en-US" sz="1700" dirty="0"/>
          </a:p>
          <a:p>
            <a:pPr marL="0" indent="0">
              <a:buNone/>
            </a:pPr>
            <a:r>
              <a:rPr lang="en-US" sz="1400" dirty="0">
                <a:solidFill>
                  <a:schemeClr val="tx1"/>
                </a:solidFill>
              </a:rPr>
              <a:t>Sales, purchases and tills post to Finance &amp; Accounting.</a:t>
            </a:r>
            <a:endParaRPr lang="en-US" sz="1700" dirty="0"/>
          </a:p>
        </p:txBody>
      </p:sp>
      <p:sp>
        <p:nvSpPr>
          <p:cNvPr id="18" name="A record of who did what card"/>
          <p:cNvSpPr/>
          <p:nvPr/>
        </p:nvSpPr>
        <p:spPr>
          <a:xfrm>
            <a:off x="8564728" y="3657600"/>
            <a:ext cx="3078328" cy="1920240"/>
          </a:xfrm>
          <a:prstGeom prst="roundRect">
            <a:avLst>
              <a:gd name="adj" fmla="val 4762"/>
            </a:avLst>
          </a:prstGeom>
          <a:solidFill>
            <a:schemeClr val="bg2"/>
          </a:solidFill>
          <a:ln/>
        </p:spPr>
        <p:txBody>
          <a:bodyPr/>
          <a:lstStyle/>
          <a:p>
            <a:endParaRPr lang="en-SS"/>
          </a:p>
        </p:txBody>
      </p:sp>
      <p:sp>
        <p:nvSpPr>
          <p:cNvPr id="19" name="LuScrollText circle"/>
          <p:cNvSpPr/>
          <p:nvPr/>
        </p:nvSpPr>
        <p:spPr>
          <a:xfrm>
            <a:off x="8839048" y="3931920"/>
            <a:ext cx="594360" cy="594360"/>
          </a:xfrm>
          <a:prstGeom prst="ellipse">
            <a:avLst/>
          </a:prstGeom>
          <a:solidFill>
            <a:srgbClr val="FFFFFF"/>
          </a:solidFill>
          <a:ln/>
        </p:spPr>
        <p:txBody>
          <a:bodyPr/>
          <a:lstStyle/>
          <a:p>
            <a:endParaRPr lang="en-SS"/>
          </a:p>
        </p:txBody>
      </p:sp>
      <p:pic>
        <p:nvPicPr>
          <p:cNvPr id="20" name="LuScrollText" descr="preencoded.png"/>
          <p:cNvPicPr>
            <a:picLocks noChangeAspect="1"/>
          </p:cNvPicPr>
          <p:nvPr/>
        </p:nvPicPr>
        <p:blipFill>
          <a:blip r:embed="rId6">
            <a:duotone>
              <a:srgbClr val="0058F5"/>
              <a:srgbClr val="0058F5"/>
            </a:duotone>
          </a:blip>
          <a:stretch>
            <a:fillRect/>
          </a:stretch>
        </p:blipFill>
        <p:spPr>
          <a:xfrm>
            <a:off x="8987638" y="4080510"/>
            <a:ext cx="297180" cy="297180"/>
          </a:xfrm>
          <a:prstGeom prst="rect">
            <a:avLst/>
          </a:prstGeom>
        </p:spPr>
      </p:pic>
      <p:sp>
        <p:nvSpPr>
          <p:cNvPr id="21" name="Text 15"/>
          <p:cNvSpPr txBox="1"/>
          <p:nvPr/>
        </p:nvSpPr>
        <p:spPr>
          <a:xfrm>
            <a:off x="8839048" y="4617720"/>
            <a:ext cx="2529688" cy="868680"/>
          </a:xfrm>
          <a:prstGeom prst="rect">
            <a:avLst/>
          </a:prstGeom>
          <a:noFill/>
          <a:ln/>
        </p:spPr>
        <p:txBody>
          <a:bodyPr wrap="square" lIns="0" tIns="0" rIns="0" bIns="0" rtlCol="0" anchor="t"/>
          <a:lstStyle/>
          <a:p>
            <a:pPr marL="0" indent="0">
              <a:buNone/>
            </a:pPr>
            <a:r>
              <a:rPr lang="en-US" sz="1700" b="1" dirty="0">
                <a:solidFill>
                  <a:schemeClr val="tx1"/>
                </a:solidFill>
              </a:rPr>
              <a:t>A record of who did what</a:t>
            </a:r>
            <a:endParaRPr lang="en-US" sz="1700" dirty="0"/>
          </a:p>
          <a:p>
            <a:pPr marL="0" indent="0">
              <a:buNone/>
            </a:pPr>
            <a:r>
              <a:rPr lang="en-US" sz="1400" dirty="0">
                <a:solidFill>
                  <a:schemeClr val="tx1"/>
                </a:solidFill>
              </a:rPr>
              <a:t>An append-only audit log; stock entries are reversed, never edited.</a:t>
            </a:r>
            <a:endParaRPr lang="en-US" sz="1700" dirty="0"/>
          </a:p>
        </p:txBody>
      </p:sp>
    </p:spTree>
    <p:extLst>
      <p:ext uri="{BB962C8B-B14F-4D97-AF65-F5344CB8AC3E}">
        <p14:creationId xmlns:p14="http://schemas.microsoft.com/office/powerpoint/2010/main" val="208862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1554480"/>
            <a:ext cx="11094720" cy="1463040"/>
          </a:xfrm>
          <a:prstGeom prst="rect">
            <a:avLst/>
          </a:prstGeom>
          <a:noFill/>
          <a:ln/>
        </p:spPr>
        <p:txBody>
          <a:bodyPr wrap="square" lIns="0" tIns="0" rIns="0" bIns="0" rtlCol="0" anchor="b"/>
          <a:lstStyle/>
          <a:p>
            <a:pPr marL="0" indent="0" algn="l">
              <a:buNone/>
            </a:pPr>
            <a:r>
              <a:rPr lang="en-US" sz="4400" b="1" dirty="0">
                <a:solidFill>
                  <a:schemeClr val="bg1"/>
                </a:solidFill>
              </a:rPr>
              <a:t>Start with a 60-day free trial</a:t>
            </a:r>
            <a:endParaRPr lang="en-US" sz="4400" dirty="0"/>
          </a:p>
        </p:txBody>
      </p:sp>
      <p:sp>
        <p:nvSpPr>
          <p:cNvPr id="3" name="Text 1"/>
          <p:cNvSpPr txBox="1"/>
          <p:nvPr/>
        </p:nvSpPr>
        <p:spPr>
          <a:xfrm>
            <a:off x="548640" y="3200400"/>
            <a:ext cx="7874000" cy="812800"/>
          </a:xfrm>
          <a:prstGeom prst="rect">
            <a:avLst/>
          </a:prstGeom>
          <a:noFill/>
          <a:ln/>
        </p:spPr>
        <p:txBody>
          <a:bodyPr wrap="square" lIns="0" tIns="0" rIns="0" bIns="0" rtlCol="0" anchor="t"/>
          <a:lstStyle/>
          <a:p>
            <a:pPr marL="0" indent="0">
              <a:buNone/>
            </a:pPr>
            <a:r>
              <a:rPr lang="en-US" sz="1800" dirty="0">
                <a:solidFill>
                  <a:schemeClr val="accent3"/>
                </a:solidFill>
              </a:rPr>
              <a:t>No payment details. Your workspace, your branches, your stock.</a:t>
            </a:r>
            <a:endParaRPr lang="en-US" sz="1800" dirty="0"/>
          </a:p>
          <a:p>
            <a:pPr marL="0" indent="0">
              <a:buNone/>
            </a:pPr>
            <a:r>
              <a:rPr lang="en-US" sz="1800" dirty="0">
                <a:solidFill>
                  <a:schemeClr val="accent3"/>
                </a:solidFill>
              </a:rPr>
              <a:t>Miles Pharmacy is in early access today.</a:t>
            </a:r>
            <a:endParaRPr lang="en-US" sz="1800" dirty="0"/>
          </a:p>
        </p:txBody>
      </p:sp>
      <p:pic>
        <p:nvPicPr>
          <p:cNvPr id="4" name="milesoftwares.com/erp/pharmacy icon" descr="preencoded.png"/>
          <p:cNvPicPr>
            <a:picLocks noChangeAspect="1"/>
          </p:cNvPicPr>
          <p:nvPr/>
        </p:nvPicPr>
        <p:blipFill>
          <a:blip r:embed="rId3">
            <a:duotone>
              <a:srgbClr val="A9C8FF"/>
              <a:srgbClr val="A9C8FF"/>
            </a:duotone>
          </a:blip>
          <a:stretch>
            <a:fillRect/>
          </a:stretch>
        </p:blipFill>
        <p:spPr>
          <a:xfrm>
            <a:off x="548640" y="4526280"/>
            <a:ext cx="320040" cy="320040"/>
          </a:xfrm>
          <a:prstGeom prst="rect">
            <a:avLst/>
          </a:prstGeom>
        </p:spPr>
      </p:pic>
      <p:sp>
        <p:nvSpPr>
          <p:cNvPr id="5" name="Text 2"/>
          <p:cNvSpPr txBox="1"/>
          <p:nvPr/>
        </p:nvSpPr>
        <p:spPr>
          <a:xfrm>
            <a:off x="1051560" y="4480560"/>
            <a:ext cx="5080000" cy="411480"/>
          </a:xfrm>
          <a:prstGeom prst="rect">
            <a:avLst/>
          </a:prstGeom>
          <a:noFill/>
          <a:ln/>
        </p:spPr>
        <p:txBody>
          <a:bodyPr wrap="square" lIns="0" tIns="0" rIns="0" bIns="0" rtlCol="0" anchor="ctr"/>
          <a:lstStyle/>
          <a:p>
            <a:pPr marL="0" indent="0">
              <a:buNone/>
            </a:pPr>
            <a:r>
              <a:rPr lang="en-US" sz="1800" dirty="0">
                <a:solidFill>
                  <a:schemeClr val="bg1"/>
                </a:solidFill>
              </a:rPr>
              <a:t>milesoftwares.com/erp/pharmacy</a:t>
            </a:r>
            <a:endParaRPr lang="en-US" sz="1800" dirty="0"/>
          </a:p>
        </p:txBody>
      </p:sp>
      <p:pic>
        <p:nvPicPr>
          <p:cNvPr id="6" name="Get started: milesoftwares.com/start icon" descr="preencoded.png"/>
          <p:cNvPicPr>
            <a:picLocks noChangeAspect="1"/>
          </p:cNvPicPr>
          <p:nvPr/>
        </p:nvPicPr>
        <p:blipFill>
          <a:blip r:embed="rId4">
            <a:duotone>
              <a:srgbClr val="A9C8FF"/>
              <a:srgbClr val="A9C8FF"/>
            </a:duotone>
          </a:blip>
          <a:stretch>
            <a:fillRect/>
          </a:stretch>
        </p:blipFill>
        <p:spPr>
          <a:xfrm>
            <a:off x="548640" y="5074920"/>
            <a:ext cx="320040" cy="320040"/>
          </a:xfrm>
          <a:prstGeom prst="rect">
            <a:avLst/>
          </a:prstGeom>
        </p:spPr>
      </p:pic>
      <p:sp>
        <p:nvSpPr>
          <p:cNvPr id="7" name="Text 3"/>
          <p:cNvSpPr txBox="1"/>
          <p:nvPr/>
        </p:nvSpPr>
        <p:spPr>
          <a:xfrm>
            <a:off x="1051560" y="5029200"/>
            <a:ext cx="5080000" cy="411480"/>
          </a:xfrm>
          <a:prstGeom prst="rect">
            <a:avLst/>
          </a:prstGeom>
          <a:noFill/>
          <a:ln/>
        </p:spPr>
        <p:txBody>
          <a:bodyPr wrap="square" lIns="0" tIns="0" rIns="0" bIns="0" rtlCol="0" anchor="ctr"/>
          <a:lstStyle/>
          <a:p>
            <a:pPr marL="0" indent="0">
              <a:buNone/>
            </a:pPr>
            <a:r>
              <a:rPr lang="en-US" sz="1800" dirty="0">
                <a:solidFill>
                  <a:schemeClr val="bg1"/>
                </a:solidFill>
              </a:rPr>
              <a:t>Get started: milesoftwares.com/start</a:t>
            </a:r>
            <a:endParaRPr lang="en-US" sz="1800" dirty="0"/>
          </a:p>
        </p:txBody>
      </p:sp>
      <p:pic>
        <p:nvPicPr>
          <p:cNvPr id="8" name="Talk to us: milesoftwares.com/contact icon" descr="preencoded.png"/>
          <p:cNvPicPr>
            <a:picLocks noChangeAspect="1"/>
          </p:cNvPicPr>
          <p:nvPr/>
        </p:nvPicPr>
        <p:blipFill>
          <a:blip r:embed="rId5">
            <a:duotone>
              <a:srgbClr val="A9C8FF"/>
              <a:srgbClr val="A9C8FF"/>
            </a:duotone>
          </a:blip>
          <a:stretch>
            <a:fillRect/>
          </a:stretch>
        </p:blipFill>
        <p:spPr>
          <a:xfrm>
            <a:off x="548640" y="5623560"/>
            <a:ext cx="320040" cy="320040"/>
          </a:xfrm>
          <a:prstGeom prst="rect">
            <a:avLst/>
          </a:prstGeom>
        </p:spPr>
      </p:pic>
      <p:sp>
        <p:nvSpPr>
          <p:cNvPr id="9" name="Text 4"/>
          <p:cNvSpPr txBox="1"/>
          <p:nvPr/>
        </p:nvSpPr>
        <p:spPr>
          <a:xfrm>
            <a:off x="1051560" y="5577840"/>
            <a:ext cx="5080000" cy="411480"/>
          </a:xfrm>
          <a:prstGeom prst="rect">
            <a:avLst/>
          </a:prstGeom>
          <a:noFill/>
          <a:ln/>
        </p:spPr>
        <p:txBody>
          <a:bodyPr wrap="square" lIns="0" tIns="0" rIns="0" bIns="0" rtlCol="0" anchor="ctr"/>
          <a:lstStyle/>
          <a:p>
            <a:pPr marL="0" indent="0">
              <a:buNone/>
            </a:pPr>
            <a:r>
              <a:rPr lang="en-US" sz="1800" dirty="0">
                <a:solidFill>
                  <a:schemeClr val="bg1"/>
                </a:solidFill>
              </a:rPr>
              <a:t>Talk to us: milesoftwares.com/contact</a:t>
            </a:r>
            <a:endParaRPr lang="en-US" sz="1800" dirty="0"/>
          </a:p>
        </p:txBody>
      </p:sp>
      <p:sp>
        <p:nvSpPr>
          <p:cNvPr id="10" name="Miles Pharmacy counter frame"/>
          <p:cNvSpPr/>
          <p:nvPr/>
        </p:nvSpPr>
        <p:spPr>
          <a:xfrm>
            <a:off x="6261100" y="4089400"/>
            <a:ext cx="5448300" cy="2366935"/>
          </a:xfrm>
          <a:prstGeom prst="roundRect">
            <a:avLst>
              <a:gd name="adj" fmla="val 4001"/>
            </a:avLst>
          </a:prstGeom>
          <a:solidFill>
            <a:schemeClr val="bg1"/>
          </a:solidFill>
          <a:ln w="12700">
            <a:solidFill>
              <a:schemeClr val="accent5"/>
            </a:solidFill>
            <a:prstDash val="solid"/>
          </a:ln>
          <a:effectLst>
            <a:outerShdw blurRad="152400" dist="50800" dir="5400000" algn="bl" rotWithShape="0">
              <a:srgbClr val="0A2260">
                <a:alpha val="18000"/>
              </a:srgbClr>
            </a:outerShdw>
          </a:effectLst>
        </p:spPr>
        <p:txBody>
          <a:bodyPr/>
          <a:lstStyle/>
          <a:p>
            <a:endParaRPr lang="en-SS"/>
          </a:p>
        </p:txBody>
      </p:sp>
      <p:pic>
        <p:nvPicPr>
          <p:cNvPr id="11" name="Miles Pharmacy counter" descr="Miles Pharmacy counter"/>
          <p:cNvPicPr>
            <a:picLocks noChangeAspect="1"/>
          </p:cNvPicPr>
          <p:nvPr/>
        </p:nvPicPr>
        <p:blipFill>
          <a:blip r:embed="rId6"/>
          <a:stretch>
            <a:fillRect/>
          </a:stretch>
        </p:blipFill>
        <p:spPr>
          <a:xfrm>
            <a:off x="6318250" y="4146550"/>
            <a:ext cx="5334000" cy="2252635"/>
          </a:xfrm>
          <a:prstGeom prst="rect">
            <a:avLst/>
          </a:prstGeom>
        </p:spPr>
      </p:pic>
    </p:spTree>
    <p:extLst>
      <p:ext uri="{BB962C8B-B14F-4D97-AF65-F5344CB8AC3E}">
        <p14:creationId xmlns:p14="http://schemas.microsoft.com/office/powerpoint/2010/main" val="154296668"/>
      </p:ext>
    </p:extLst>
  </p:cSld>
  <p:clrMapOvr>
    <a:masterClrMapping/>
  </p:clrMapOvr>
</p:sld>
</file>

<file path=ppt/theme/theme1.xml><?xml version="1.0" encoding="utf-8"?>
<a:theme xmlns:a="http://schemas.openxmlformats.org/drawingml/2006/main" name="Miles Global Softwares [1792955090699]">
  <a:themeElements>
    <a:clrScheme name="Miles Pharmacy Green">
      <a:dk1>
        <a:srgbClr val="0A2260"/>
      </a:dk1>
      <a:lt1>
        <a:srgbClr val="FFFFFF"/>
      </a:lt1>
      <a:dk2>
        <a:srgbClr val="0A2A6E"/>
      </a:dk2>
      <a:lt2>
        <a:srgbClr val="EEF4FF"/>
      </a:lt2>
      <a:accent1>
        <a:srgbClr val="0058F5"/>
      </a:accent1>
      <a:accent2>
        <a:srgbClr val="2F8CFF"/>
      </a:accent2>
      <a:accent3>
        <a:srgbClr val="A9C8FF"/>
      </a:accent3>
      <a:accent4>
        <a:srgbClr val="0A2A6E"/>
      </a:accent4>
      <a:accent5>
        <a:srgbClr val="DCE7F7"/>
      </a:accent5>
      <a:accent6>
        <a:srgbClr val="E59F3A"/>
      </a:accent6>
      <a:hlink>
        <a:srgbClr val="0058F5"/>
      </a:hlink>
      <a:folHlink>
        <a:srgbClr val="0A2A6E"/>
      </a:folHlink>
    </a:clrScheme>
    <a:fontScheme name="Miles Global Softwares">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EE4963C-1BCA-42CD-B464-A0D17ED45A44}">
  <we:reference id="11d7cf85-ae5a-43b8-bc58-1e1a151cce24" version="1.0.0.1" store="EXCatalog" storeType="EXCatalog"/>
  <we:alternateReferences>
    <we:reference id="WA200010725" version="1.0.0.1" store="en-US" storeType="OMEX"/>
  </we:alternateReferences>
  <we:properties>
    <we:property name="claude.fileId" value="&quot;79582c6c-2187-48f5-b6c0-d1d905762f4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105</TotalTime>
  <Words>1183</Words>
  <Application>Microsoft Office PowerPoint</Application>
  <PresentationFormat>Widescreen</PresentationFormat>
  <Paragraphs>146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Miles Global Softwares [1792955090699]</vt:lpstr>
      <vt:lpstr>Miles Pharmacy</vt:lpstr>
      <vt:lpstr>Where pharmacies lose money without noticing</vt:lpstr>
      <vt:lpstr>Everything a pharmacy runs on, in one system</vt:lpstr>
      <vt:lpstr>Each branch at a glance</vt:lpstr>
      <vt:lpstr>A counter that keeps the queue moving</vt:lpstr>
      <vt:lpstr>Stock and expiry, branch by branch</vt:lpstr>
      <vt:lpstr>Every batch traced, held back or disposed of</vt:lpstr>
      <vt:lpstr>Know what you earn, not just what you sell</vt:lpstr>
      <vt:lpstr>How a day runs</vt:lpstr>
      <vt:lpstr>Web, desktop and mobile</vt:lpstr>
      <vt:lpstr>Part of Miles Cloud</vt:lpstr>
      <vt:lpstr>Start with a 60-day free trial</vt:lpstr>
    </vt:vector>
  </TitlesOfParts>
  <Company>Miles Global Softwares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Miles Pharmacy: product profile</dc:title>
  <dc:subject>PptxGenJS Presentation</dc:subject>
  <dc:creator>Miles Global Softwares</dc:creator>
  <cp:lastModifiedBy>Kon Akech</cp:lastModifiedBy>
  <cp:revision>8</cp:revision>
  <dcterms:created xsi:type="dcterms:W3CDTF">2026-10-25T17:32:00Z</dcterms:created>
  <dcterms:modified xsi:type="dcterms:W3CDTF">2026-10-25T19:19:33Z</dcterms:modified>
</cp:coreProperties>
</file>